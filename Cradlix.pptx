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Antigoni Med" panose="020B0703020204030204" pitchFamily="34" charset="0"/>
      <p:regular r:id="rId13"/>
    </p:embeddedFont>
    <p:embeddedFont>
      <p:font typeface="Funnel Sans" pitchFamily="2" charset="0"/>
      <p:regular r:id="rId14"/>
      <p:bold r:id="rId15"/>
      <p:italic r:id="rId16"/>
      <p:boldItalic r:id="rId17"/>
    </p:embeddedFont>
    <p:embeddedFont>
      <p:font typeface="Mona Sans Semi Bold"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792" y="1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58733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13" Type="http://schemas.microsoft.com/office/2007/relationships/hdphoto" Target="../media/hdphoto5.wdp"/><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7.jpg"/><Relationship Id="rId5" Type="http://schemas.openxmlformats.org/officeDocument/2006/relationships/image" Target="../media/image4.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6.png"/><Relationship Id="rId1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9.png"/><Relationship Id="rId4" Type="http://schemas.microsoft.com/office/2007/relationships/hdphoto" Target="../media/hdphoto5.wdp"/></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9.png"/><Relationship Id="rId4" Type="http://schemas.microsoft.com/office/2007/relationships/hdphoto" Target="../media/hdphoto5.wdp"/></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9.png"/><Relationship Id="rId4" Type="http://schemas.microsoft.com/office/2007/relationships/hdphoto" Target="../media/hdphoto5.wdp"/></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microsoft.com/office/2007/relationships/hdphoto" Target="../media/hdphoto5.wdp"/></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microsoft.com/office/2007/relationships/hdphoto" Target="../media/hdphoto5.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9.png"/><Relationship Id="rId4" Type="http://schemas.microsoft.com/office/2007/relationships/hdphoto" Target="../media/hdphoto5.wdp"/></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9.png"/><Relationship Id="rId4" Type="http://schemas.microsoft.com/office/2007/relationships/hdphoto" Target="../media/hdphoto5.wdp"/></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9.png"/><Relationship Id="rId4" Type="http://schemas.microsoft.com/office/2007/relationships/hdphoto" Target="../media/hdphoto5.wdp"/></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tul013/Cradlix" TargetMode="External"/><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microsoft.com/office/2007/relationships/hdphoto" Target="../media/hdphoto5.wdp"/><Relationship Id="rId5" Type="http://schemas.openxmlformats.org/officeDocument/2006/relationships/image" Target="../media/image8.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3463111" y="4671810"/>
            <a:ext cx="7704177" cy="962978"/>
          </a:xfrm>
          <a:prstGeom prst="rect">
            <a:avLst/>
          </a:prstGeom>
          <a:noFill/>
          <a:ln/>
        </p:spPr>
        <p:txBody>
          <a:bodyPr wrap="none" lIns="0" tIns="0" rIns="0" bIns="0" rtlCol="0" anchor="t"/>
          <a:lstStyle/>
          <a:p>
            <a:pPr marL="0" indent="0" algn="ctr">
              <a:lnSpc>
                <a:spcPts val="7550"/>
              </a:lnSpc>
              <a:buNone/>
            </a:pPr>
            <a:r>
              <a:rPr lang="en-US" sz="6600" b="1" dirty="0">
                <a:solidFill>
                  <a:srgbClr val="373B48"/>
                </a:solidFill>
                <a:latin typeface="Antigoni Med" panose="020B0703020204030204" pitchFamily="34" charset="0"/>
                <a:ea typeface="Mona Sans Semi Bold" pitchFamily="34" charset="-122"/>
                <a:cs typeface="Mona Sans Semi Bold" pitchFamily="34" charset="-120"/>
              </a:rPr>
              <a:t>Cradlix</a:t>
            </a:r>
            <a:endParaRPr lang="en-US" sz="6600" b="1" dirty="0">
              <a:latin typeface="Antigoni Med" panose="020B0703020204030204" pitchFamily="34" charset="0"/>
            </a:endParaRPr>
          </a:p>
        </p:txBody>
      </p:sp>
      <p:sp>
        <p:nvSpPr>
          <p:cNvPr id="5" name="Text 2"/>
          <p:cNvSpPr/>
          <p:nvPr/>
        </p:nvSpPr>
        <p:spPr>
          <a:xfrm>
            <a:off x="5919549" y="6575703"/>
            <a:ext cx="2791301" cy="348853"/>
          </a:xfrm>
          <a:prstGeom prst="rect">
            <a:avLst/>
          </a:prstGeom>
          <a:noFill/>
          <a:ln/>
        </p:spPr>
        <p:txBody>
          <a:bodyPr wrap="none" lIns="0" tIns="0" rIns="0" bIns="0" rtlCol="0" anchor="t"/>
          <a:lstStyle/>
          <a:p>
            <a:pPr marL="0" indent="0" algn="ctr">
              <a:lnSpc>
                <a:spcPts val="2700"/>
              </a:lnSpc>
              <a:buNone/>
            </a:pPr>
            <a:r>
              <a:rPr lang="en-US" sz="2150" dirty="0">
                <a:solidFill>
                  <a:srgbClr val="373B48"/>
                </a:solidFill>
                <a:latin typeface="Mona Sans Semi Bold" pitchFamily="34" charset="0"/>
                <a:ea typeface="Mona Sans Semi Bold" pitchFamily="34" charset="-122"/>
                <a:cs typeface="Mona Sans Semi Bold" pitchFamily="34" charset="-120"/>
              </a:rPr>
              <a:t>ABX &amp; Co.</a:t>
            </a:r>
            <a:endParaRPr lang="en-US" sz="2150" dirty="0"/>
          </a:p>
        </p:txBody>
      </p:sp>
      <p:sp>
        <p:nvSpPr>
          <p:cNvPr id="6" name="Text 3"/>
          <p:cNvSpPr/>
          <p:nvPr/>
        </p:nvSpPr>
        <p:spPr>
          <a:xfrm>
            <a:off x="781526" y="7259479"/>
            <a:ext cx="13067348" cy="357307"/>
          </a:xfrm>
          <a:prstGeom prst="rect">
            <a:avLst/>
          </a:prstGeom>
          <a:noFill/>
          <a:ln/>
        </p:spPr>
        <p:txBody>
          <a:bodyPr wrap="none" lIns="0" tIns="0" rIns="0" bIns="0" rtlCol="0" anchor="t"/>
          <a:lstStyle/>
          <a:p>
            <a:pPr marL="0" indent="0" algn="ctr">
              <a:lnSpc>
                <a:spcPts val="2800"/>
              </a:lnSpc>
              <a:buNone/>
            </a:pPr>
            <a:r>
              <a:rPr lang="en-US" sz="1750" i="1" dirty="0">
                <a:solidFill>
                  <a:srgbClr val="0070C0"/>
                </a:solidFill>
                <a:latin typeface="Funnel Sans" pitchFamily="34" charset="0"/>
                <a:ea typeface="Funnel Sans" pitchFamily="34" charset="-122"/>
                <a:cs typeface="Funnel Sans" pitchFamily="34" charset="-120"/>
              </a:rPr>
              <a:t>#CreateAndElevate</a:t>
            </a:r>
            <a:endParaRPr lang="en-US" sz="1750" dirty="0"/>
          </a:p>
        </p:txBody>
      </p:sp>
      <p:pic>
        <p:nvPicPr>
          <p:cNvPr id="8" name="Picture 7">
            <a:extLst>
              <a:ext uri="{FF2B5EF4-FFF2-40B4-BE49-F238E27FC236}">
                <a16:creationId xmlns:a16="http://schemas.microsoft.com/office/drawing/2014/main" id="{E1111888-5FA6-2304-46C5-8F1159B438D4}"/>
              </a:ext>
            </a:extLst>
          </p:cNvPr>
          <p:cNvPicPr>
            <a:picLocks noChangeAspect="1"/>
          </p:cNvPicPr>
          <p:nvPr/>
        </p:nvPicPr>
        <p:blipFill>
          <a:blip r:embed="rId3" cstate="print">
            <a:biLevel thresh="75000"/>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1422403" y="18797"/>
            <a:ext cx="982475" cy="982475"/>
          </a:xfrm>
          <a:prstGeom prst="rect">
            <a:avLst/>
          </a:prstGeom>
        </p:spPr>
      </p:pic>
      <p:pic>
        <p:nvPicPr>
          <p:cNvPr id="9" name="Picture 8">
            <a:extLst>
              <a:ext uri="{FF2B5EF4-FFF2-40B4-BE49-F238E27FC236}">
                <a16:creationId xmlns:a16="http://schemas.microsoft.com/office/drawing/2014/main" id="{020EED5F-2841-79D4-EEB8-F3C2D488D664}"/>
              </a:ext>
            </a:extLst>
          </p:cNvPr>
          <p:cNvPicPr>
            <a:picLocks noChangeAspect="1"/>
          </p:cNvPicPr>
          <p:nvPr/>
        </p:nvPicPr>
        <p:blipFill>
          <a:blip r:embed="rId5" cstate="print">
            <a:biLevel thresh="75000"/>
            <a:extLst>
              <a:ext uri="{BEBA8EAE-BF5A-486C-A8C5-ECC9F3942E4B}">
                <a14:imgProps xmlns:a14="http://schemas.microsoft.com/office/drawing/2010/main">
                  <a14:imgLayer r:embed="rId6">
                    <a14:imgEffect>
                      <a14:brightnessContrast bright="-40000" contrast="-40000"/>
                    </a14:imgEffect>
                  </a14:imgLayer>
                </a14:imgProps>
              </a:ext>
              <a:ext uri="{28A0092B-C50C-407E-A947-70E740481C1C}">
                <a14:useLocalDpi xmlns:a14="http://schemas.microsoft.com/office/drawing/2010/main" val="0"/>
              </a:ext>
            </a:extLst>
          </a:blip>
          <a:srcRect t="11733" b="12410"/>
          <a:stretch>
            <a:fillRect/>
          </a:stretch>
        </p:blipFill>
        <p:spPr>
          <a:xfrm>
            <a:off x="326944" y="18797"/>
            <a:ext cx="1430573" cy="1360354"/>
          </a:xfrm>
          <a:prstGeom prst="rect">
            <a:avLst/>
          </a:prstGeom>
        </p:spPr>
      </p:pic>
      <p:sp>
        <p:nvSpPr>
          <p:cNvPr id="10" name="TextBox 9">
            <a:extLst>
              <a:ext uri="{FF2B5EF4-FFF2-40B4-BE49-F238E27FC236}">
                <a16:creationId xmlns:a16="http://schemas.microsoft.com/office/drawing/2014/main" id="{F2159D85-281B-5A24-2F7F-E076B18A9A11}"/>
              </a:ext>
            </a:extLst>
          </p:cNvPr>
          <p:cNvSpPr txBox="1"/>
          <p:nvPr/>
        </p:nvSpPr>
        <p:spPr>
          <a:xfrm>
            <a:off x="1757517" y="196189"/>
            <a:ext cx="3968725" cy="612155"/>
          </a:xfrm>
          <a:prstGeom prst="rect">
            <a:avLst/>
          </a:prstGeom>
          <a:noFill/>
        </p:spPr>
        <p:txBody>
          <a:bodyPr wrap="square" rtlCol="0">
            <a:spAutoFit/>
          </a:bodyPr>
          <a:lstStyle/>
          <a:p>
            <a:pPr>
              <a:lnSpc>
                <a:spcPct val="150000"/>
              </a:lnSpc>
            </a:pPr>
            <a:r>
              <a:rPr lang="en-US" sz="1200" b="1" dirty="0">
                <a:latin typeface="Arial" pitchFamily="34" charset="0"/>
                <a:cs typeface="Arial" pitchFamily="34" charset="0"/>
              </a:rPr>
              <a:t>MAR  ATHANASIUS COLLEGE OF ENGINEERING KOTHAMANGALAM  (AUTONOMOUS)</a:t>
            </a:r>
          </a:p>
        </p:txBody>
      </p:sp>
      <p:pic>
        <p:nvPicPr>
          <p:cNvPr id="11" name="Picture 10">
            <a:extLst>
              <a:ext uri="{FF2B5EF4-FFF2-40B4-BE49-F238E27FC236}">
                <a16:creationId xmlns:a16="http://schemas.microsoft.com/office/drawing/2014/main" id="{5349A016-B946-E7FA-DFB6-1E3A544684F9}"/>
              </a:ext>
            </a:extLst>
          </p:cNvPr>
          <p:cNvPicPr>
            <a:picLocks noChangeAspect="1"/>
          </p:cNvPicPr>
          <p:nvPr/>
        </p:nvPicPr>
        <p:blipFill>
          <a:blip r:embed="rId7" cstate="print">
            <a:biLevel thresh="75000"/>
            <a:extLst>
              <a:ext uri="{BEBA8EAE-BF5A-486C-A8C5-ECC9F3942E4B}">
                <a14:imgProps xmlns:a14="http://schemas.microsoft.com/office/drawing/2010/main">
                  <a14:imgLayer r:embed="rId8">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8365825" y="338945"/>
            <a:ext cx="2453660" cy="531626"/>
          </a:xfrm>
          <a:prstGeom prst="rect">
            <a:avLst/>
          </a:prstGeom>
        </p:spPr>
      </p:pic>
      <p:pic>
        <p:nvPicPr>
          <p:cNvPr id="12" name="Picture 11">
            <a:extLst>
              <a:ext uri="{FF2B5EF4-FFF2-40B4-BE49-F238E27FC236}">
                <a16:creationId xmlns:a16="http://schemas.microsoft.com/office/drawing/2014/main" id="{74F1C122-DE96-BE8C-8339-D61DF96BFE79}"/>
              </a:ext>
            </a:extLst>
          </p:cNvPr>
          <p:cNvPicPr>
            <a:picLocks noChangeAspect="1"/>
          </p:cNvPicPr>
          <p:nvPr/>
        </p:nvPicPr>
        <p:blipFill>
          <a:blip r:embed="rId9" cstate="print">
            <a:biLevel thresh="75000"/>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val="0"/>
              </a:ext>
            </a:extLst>
          </a:blip>
          <a:stretch>
            <a:fillRect/>
          </a:stretch>
        </p:blipFill>
        <p:spPr>
          <a:xfrm>
            <a:off x="13007796" y="-204601"/>
            <a:ext cx="1383024" cy="1383024"/>
          </a:xfrm>
          <a:prstGeom prst="rect">
            <a:avLst/>
          </a:prstGeom>
        </p:spPr>
      </p:pic>
      <p:pic>
        <p:nvPicPr>
          <p:cNvPr id="13" name="Picture 12">
            <a:extLst>
              <a:ext uri="{FF2B5EF4-FFF2-40B4-BE49-F238E27FC236}">
                <a16:creationId xmlns:a16="http://schemas.microsoft.com/office/drawing/2014/main" id="{17058E18-1EFB-3C37-18C0-C44D2465A834}"/>
              </a:ext>
            </a:extLst>
          </p:cNvPr>
          <p:cNvPicPr>
            <a:picLocks noChangeAspect="1"/>
          </p:cNvPicPr>
          <p:nvPr/>
        </p:nvPicPr>
        <p:blipFill>
          <a:blip r:embed="rId11"/>
          <a:srcRect t="13958" r="6675" b="29"/>
          <a:stretch>
            <a:fillRect/>
          </a:stretch>
        </p:blipFill>
        <p:spPr>
          <a:xfrm>
            <a:off x="6905918" y="3262"/>
            <a:ext cx="953477" cy="998010"/>
          </a:xfrm>
          <a:prstGeom prst="rect">
            <a:avLst/>
          </a:prstGeom>
        </p:spPr>
      </p:pic>
      <p:grpSp>
        <p:nvGrpSpPr>
          <p:cNvPr id="20" name="Group 19">
            <a:extLst>
              <a:ext uri="{FF2B5EF4-FFF2-40B4-BE49-F238E27FC236}">
                <a16:creationId xmlns:a16="http://schemas.microsoft.com/office/drawing/2014/main" id="{493A230F-A61D-5CF3-44A3-992D6F96F72F}"/>
              </a:ext>
            </a:extLst>
          </p:cNvPr>
          <p:cNvGrpSpPr/>
          <p:nvPr/>
        </p:nvGrpSpPr>
        <p:grpSpPr>
          <a:xfrm>
            <a:off x="4980356" y="2274781"/>
            <a:ext cx="5012643" cy="1612727"/>
            <a:chOff x="4980356" y="2244940"/>
            <a:chExt cx="4228223" cy="1360354"/>
          </a:xfrm>
        </p:grpSpPr>
        <p:pic>
          <p:nvPicPr>
            <p:cNvPr id="16" name="Picture 15">
              <a:extLst>
                <a:ext uri="{FF2B5EF4-FFF2-40B4-BE49-F238E27FC236}">
                  <a16:creationId xmlns:a16="http://schemas.microsoft.com/office/drawing/2014/main" id="{DF97B6FC-AAC8-7C46-BC9D-29622B7F11E6}"/>
                </a:ext>
              </a:extLst>
            </p:cNvPr>
            <p:cNvPicPr>
              <a:picLocks noChangeAspect="1"/>
            </p:cNvPicPr>
            <p:nvPr/>
          </p:nvPicPr>
          <p:blipFill>
            <a:blip r:embed="rId12" cstate="print">
              <a:extLst>
                <a:ext uri="{BEBA8EAE-BF5A-486C-A8C5-ECC9F3942E4B}">
                  <a14:imgProps xmlns:a14="http://schemas.microsoft.com/office/drawing/2010/main">
                    <a14:imgLayer r:embed="rId13">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8" name="Picture 17">
              <a:extLst>
                <a:ext uri="{FF2B5EF4-FFF2-40B4-BE49-F238E27FC236}">
                  <a16:creationId xmlns:a16="http://schemas.microsoft.com/office/drawing/2014/main" id="{509A6464-71D6-34B5-8D81-68EEC77D656E}"/>
                </a:ext>
              </a:extLst>
            </p:cNvPr>
            <p:cNvPicPr>
              <a:picLocks noChangeAspect="1"/>
            </p:cNvPicPr>
            <p:nvPr/>
          </p:nvPicPr>
          <p:blipFill>
            <a:blip r:embed="rId14"/>
            <a:srcRect t="72039" b="-3582"/>
            <a:stretch>
              <a:fillRect/>
            </a:stretch>
          </p:blipFill>
          <p:spPr>
            <a:xfrm>
              <a:off x="5196076" y="3227371"/>
              <a:ext cx="3729877" cy="377923"/>
            </a:xfrm>
            <a:prstGeom prst="rect">
              <a:avLst/>
            </a:prstGeom>
          </p:spPr>
        </p:pic>
      </p:grpSp>
      <p:sp>
        <p:nvSpPr>
          <p:cNvPr id="21" name="Rectangle 20">
            <a:extLst>
              <a:ext uri="{FF2B5EF4-FFF2-40B4-BE49-F238E27FC236}">
                <a16:creationId xmlns:a16="http://schemas.microsoft.com/office/drawing/2014/main" id="{F7DB17B9-DD9C-EF8D-1E4D-255B23E31A63}"/>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412515" y="1693429"/>
            <a:ext cx="6374011"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PROBLEM STATEMENT</a:t>
            </a:r>
            <a:endParaRPr lang="en-US" sz="4450" dirty="0">
              <a:latin typeface="Antigoni Med" panose="020B0703020204030204" pitchFamily="34" charset="0"/>
            </a:endParaRPr>
          </a:p>
        </p:txBody>
      </p:sp>
      <p:sp>
        <p:nvSpPr>
          <p:cNvPr id="3" name="Text 1"/>
          <p:cNvSpPr/>
          <p:nvPr/>
        </p:nvSpPr>
        <p:spPr>
          <a:xfrm>
            <a:off x="793790" y="3340179"/>
            <a:ext cx="6244709" cy="181451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The project addresses the challenge of accurately and reliably detecting a baby's cries to ensure timely parental response, reduce caregiver anxiety, and improve infant well-being—overcoming the limitations of traditional baby monitors.</a:t>
            </a:r>
            <a:endParaRPr lang="en-US" sz="1750" dirty="0"/>
          </a:p>
        </p:txBody>
      </p:sp>
      <p:sp>
        <p:nvSpPr>
          <p:cNvPr id="4" name="Text 2"/>
          <p:cNvSpPr/>
          <p:nvPr/>
        </p:nvSpPr>
        <p:spPr>
          <a:xfrm>
            <a:off x="7599521" y="3340179"/>
            <a:ext cx="6244709" cy="217741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The project fills key gaps in the baby monitoring market by providing affordable, intelligent cry detection with accurate alerts and the potential to distinguish between types of cries—capabilities lacking in most traditional monitors, which leads to missed signals and increased parental stress.</a:t>
            </a:r>
            <a:endParaRPr lang="en-US" sz="1750" dirty="0"/>
          </a:p>
        </p:txBody>
      </p:sp>
      <p:sp>
        <p:nvSpPr>
          <p:cNvPr id="5" name="Text 3"/>
          <p:cNvSpPr/>
          <p:nvPr/>
        </p:nvSpPr>
        <p:spPr>
          <a:xfrm>
            <a:off x="793790" y="5852041"/>
            <a:ext cx="13042821" cy="290274"/>
          </a:xfrm>
          <a:prstGeom prst="rect">
            <a:avLst/>
          </a:prstGeom>
          <a:noFill/>
          <a:ln/>
        </p:spPr>
        <p:txBody>
          <a:bodyPr wrap="none" lIns="0" tIns="0" rIns="0" bIns="0" rtlCol="0" anchor="t"/>
          <a:lstStyle/>
          <a:p>
            <a:pPr marL="0" indent="0" algn="l">
              <a:lnSpc>
                <a:spcPts val="2250"/>
              </a:lnSpc>
              <a:buNone/>
            </a:pPr>
            <a:endParaRPr lang="en-US" sz="1400" dirty="0"/>
          </a:p>
        </p:txBody>
      </p:sp>
      <p:sp>
        <p:nvSpPr>
          <p:cNvPr id="6" name="Rectangle 5">
            <a:extLst>
              <a:ext uri="{FF2B5EF4-FFF2-40B4-BE49-F238E27FC236}">
                <a16:creationId xmlns:a16="http://schemas.microsoft.com/office/drawing/2014/main" id="{2D7E4761-B697-9674-C098-59C7A12A6A1F}"/>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7" name="Group 6">
            <a:extLst>
              <a:ext uri="{FF2B5EF4-FFF2-40B4-BE49-F238E27FC236}">
                <a16:creationId xmlns:a16="http://schemas.microsoft.com/office/drawing/2014/main" id="{9E2EF55E-B5ED-6268-B822-1F6B6138726B}"/>
              </a:ext>
            </a:extLst>
          </p:cNvPr>
          <p:cNvGrpSpPr/>
          <p:nvPr/>
        </p:nvGrpSpPr>
        <p:grpSpPr>
          <a:xfrm>
            <a:off x="13098849" y="7649737"/>
            <a:ext cx="1531551" cy="492749"/>
            <a:chOff x="4980356" y="2244940"/>
            <a:chExt cx="4228223" cy="1360354"/>
          </a:xfrm>
        </p:grpSpPr>
        <p:pic>
          <p:nvPicPr>
            <p:cNvPr id="8" name="Picture 7">
              <a:extLst>
                <a:ext uri="{FF2B5EF4-FFF2-40B4-BE49-F238E27FC236}">
                  <a16:creationId xmlns:a16="http://schemas.microsoft.com/office/drawing/2014/main" id="{5EED062D-988E-7057-C01E-8E21C28BBFDF}"/>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9" name="Picture 8">
              <a:extLst>
                <a:ext uri="{FF2B5EF4-FFF2-40B4-BE49-F238E27FC236}">
                  <a16:creationId xmlns:a16="http://schemas.microsoft.com/office/drawing/2014/main" id="{2A74B83F-8776-EB24-C941-6DB5DFAE5325}"/>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774400" y="781336"/>
            <a:ext cx="7081599" cy="708779"/>
          </a:xfrm>
          <a:prstGeom prst="rect">
            <a:avLst/>
          </a:prstGeom>
          <a:noFill/>
          <a:ln/>
        </p:spPr>
        <p:txBody>
          <a:bodyPr wrap="none" lIns="0" tIns="0" rIns="0" bIns="0" rtlCol="0" anchor="t"/>
          <a:lstStyle/>
          <a:p>
            <a:pPr marL="0" indent="0">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SOLUTION / INNOVATION</a:t>
            </a:r>
            <a:endParaRPr lang="en-US" sz="4450" dirty="0">
              <a:latin typeface="Antigoni Med" panose="020B0703020204030204" pitchFamily="34" charset="0"/>
            </a:endParaRPr>
          </a:p>
        </p:txBody>
      </p:sp>
      <p:sp>
        <p:nvSpPr>
          <p:cNvPr id="3" name="Text 1"/>
          <p:cNvSpPr/>
          <p:nvPr/>
        </p:nvSpPr>
        <p:spPr>
          <a:xfrm>
            <a:off x="793790" y="1980128"/>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Proposed Solution</a:t>
            </a:r>
            <a:endParaRPr lang="en-US" sz="3550" dirty="0"/>
          </a:p>
        </p:txBody>
      </p:sp>
      <p:sp>
        <p:nvSpPr>
          <p:cNvPr id="4" name="Text 2"/>
          <p:cNvSpPr/>
          <p:nvPr/>
        </p:nvSpPr>
        <p:spPr>
          <a:xfrm>
            <a:off x="793790" y="277391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Develop an affordable, smart baby monitoring system.</a:t>
            </a:r>
            <a:endParaRPr lang="en-US" sz="1750" dirty="0"/>
          </a:p>
        </p:txBody>
      </p:sp>
      <p:sp>
        <p:nvSpPr>
          <p:cNvPr id="5" name="Text 3"/>
          <p:cNvSpPr/>
          <p:nvPr/>
        </p:nvSpPr>
        <p:spPr>
          <a:xfrm>
            <a:off x="793790" y="3216116"/>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Use sound sensors to accurately detect infant cries in real time.</a:t>
            </a:r>
            <a:endParaRPr lang="en-US" sz="1750" dirty="0"/>
          </a:p>
        </p:txBody>
      </p:sp>
      <p:sp>
        <p:nvSpPr>
          <p:cNvPr id="6" name="Text 4"/>
          <p:cNvSpPr/>
          <p:nvPr/>
        </p:nvSpPr>
        <p:spPr>
          <a:xfrm>
            <a:off x="793790" y="4021217"/>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Differentiate cries from background noise to reduce false alarms.</a:t>
            </a:r>
            <a:endParaRPr lang="en-US" sz="1750" dirty="0"/>
          </a:p>
        </p:txBody>
      </p:sp>
      <p:sp>
        <p:nvSpPr>
          <p:cNvPr id="7" name="Text 5"/>
          <p:cNvSpPr/>
          <p:nvPr/>
        </p:nvSpPr>
        <p:spPr>
          <a:xfrm>
            <a:off x="793790" y="482631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Instantly alert caregivers through visual cues and smartphone notifications.</a:t>
            </a:r>
            <a:endParaRPr lang="en-US" sz="1750" dirty="0"/>
          </a:p>
        </p:txBody>
      </p:sp>
      <p:sp>
        <p:nvSpPr>
          <p:cNvPr id="8" name="Text 6"/>
          <p:cNvSpPr/>
          <p:nvPr/>
        </p:nvSpPr>
        <p:spPr>
          <a:xfrm>
            <a:off x="793790" y="563141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Enable future capability to classify different types of cries for more tailored responses.</a:t>
            </a:r>
            <a:endParaRPr lang="en-US" sz="1750" dirty="0"/>
          </a:p>
        </p:txBody>
      </p:sp>
      <p:sp>
        <p:nvSpPr>
          <p:cNvPr id="9" name="Text 7"/>
          <p:cNvSpPr/>
          <p:nvPr/>
        </p:nvSpPr>
        <p:spPr>
          <a:xfrm>
            <a:off x="7599521" y="1980128"/>
            <a:ext cx="5615583" cy="566976"/>
          </a:xfrm>
          <a:prstGeom prst="rect">
            <a:avLst/>
          </a:prstGeom>
          <a:noFill/>
          <a:ln/>
        </p:spPr>
        <p:txBody>
          <a:bodyPr wrap="non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Key Features</a:t>
            </a:r>
            <a:r>
              <a:rPr lang="en-US" sz="3550" dirty="0">
                <a:solidFill>
                  <a:srgbClr val="F1E67F"/>
                </a:solidFill>
                <a:latin typeface="Mona Sans Semi Bold" pitchFamily="34" charset="0"/>
                <a:ea typeface="Mona Sans Semi Bold" pitchFamily="34" charset="-122"/>
                <a:cs typeface="Mona Sans Semi Bold" pitchFamily="34" charset="-120"/>
              </a:rPr>
              <a:t>/</a:t>
            </a:r>
            <a:r>
              <a:rPr lang="en-US" sz="3550" dirty="0">
                <a:solidFill>
                  <a:srgbClr val="373B48"/>
                </a:solidFill>
                <a:latin typeface="Mona Sans Semi Bold" pitchFamily="34" charset="0"/>
                <a:ea typeface="Mona Sans Semi Bold" pitchFamily="34" charset="-122"/>
                <a:cs typeface="Mona Sans Semi Bold" pitchFamily="34" charset="-120"/>
              </a:rPr>
              <a:t>Innovations</a:t>
            </a:r>
            <a:endParaRPr lang="en-US" sz="3550" dirty="0"/>
          </a:p>
        </p:txBody>
      </p:sp>
      <p:sp>
        <p:nvSpPr>
          <p:cNvPr id="10" name="Text 8"/>
          <p:cNvSpPr/>
          <p:nvPr/>
        </p:nvSpPr>
        <p:spPr>
          <a:xfrm>
            <a:off x="7599521" y="2773918"/>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Accurate Cry Detection: Real-time sound analysis reliably identifies genuine infant cries and minimizes false alarms.</a:t>
            </a:r>
            <a:endParaRPr lang="en-US" sz="1750" dirty="0"/>
          </a:p>
        </p:txBody>
      </p:sp>
      <p:sp>
        <p:nvSpPr>
          <p:cNvPr id="11" name="Text 9"/>
          <p:cNvSpPr/>
          <p:nvPr/>
        </p:nvSpPr>
        <p:spPr>
          <a:xfrm>
            <a:off x="7599521" y="3579019"/>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Wi-Fi-Enabled Alerts: Instantly notifies caregivers via smartphone notifications, even when they are away from the baby's room.</a:t>
            </a:r>
            <a:endParaRPr lang="en-US" sz="1750" dirty="0"/>
          </a:p>
        </p:txBody>
      </p:sp>
      <p:sp>
        <p:nvSpPr>
          <p:cNvPr id="12" name="Text 10"/>
          <p:cNvSpPr/>
          <p:nvPr/>
        </p:nvSpPr>
        <p:spPr>
          <a:xfrm>
            <a:off x="7599521" y="4747022"/>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Visual Status Indicators: Integrated OLED display and RGB LEDs provide at-a-glance updates on baby's status.</a:t>
            </a:r>
            <a:endParaRPr lang="en-US" sz="1750" dirty="0"/>
          </a:p>
        </p:txBody>
      </p:sp>
      <p:sp>
        <p:nvSpPr>
          <p:cNvPr id="13" name="Text 11"/>
          <p:cNvSpPr/>
          <p:nvPr/>
        </p:nvSpPr>
        <p:spPr>
          <a:xfrm>
            <a:off x="7599521" y="5552123"/>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Optional Lullaby Playback: Automatically plays soothing music to help comfort the baby when crying is detected.</a:t>
            </a:r>
            <a:endParaRPr lang="en-US" sz="1750" dirty="0"/>
          </a:p>
        </p:txBody>
      </p:sp>
      <p:sp>
        <p:nvSpPr>
          <p:cNvPr id="14" name="Text 12"/>
          <p:cNvSpPr/>
          <p:nvPr/>
        </p:nvSpPr>
        <p:spPr>
          <a:xfrm>
            <a:off x="7599521" y="6357223"/>
            <a:ext cx="6244709"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Machine Learning Ready: Designed for future integration of AI to recognize and classify different types of baby cries.</a:t>
            </a:r>
            <a:endParaRPr lang="en-US" sz="1750" dirty="0"/>
          </a:p>
        </p:txBody>
      </p:sp>
      <p:sp>
        <p:nvSpPr>
          <p:cNvPr id="15" name="Rectangle 14">
            <a:extLst>
              <a:ext uri="{FF2B5EF4-FFF2-40B4-BE49-F238E27FC236}">
                <a16:creationId xmlns:a16="http://schemas.microsoft.com/office/drawing/2014/main" id="{3D285784-C652-D4C4-DD42-6CAFEFCC53AB}"/>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 name="Group 18">
            <a:extLst>
              <a:ext uri="{FF2B5EF4-FFF2-40B4-BE49-F238E27FC236}">
                <a16:creationId xmlns:a16="http://schemas.microsoft.com/office/drawing/2014/main" id="{D7FCCC97-012A-2D04-A690-3A2967766698}"/>
              </a:ext>
            </a:extLst>
          </p:cNvPr>
          <p:cNvGrpSpPr/>
          <p:nvPr/>
        </p:nvGrpSpPr>
        <p:grpSpPr>
          <a:xfrm>
            <a:off x="13098849" y="7649737"/>
            <a:ext cx="1531551" cy="492749"/>
            <a:chOff x="4980356" y="2244940"/>
            <a:chExt cx="4228223" cy="1360354"/>
          </a:xfrm>
        </p:grpSpPr>
        <p:pic>
          <p:nvPicPr>
            <p:cNvPr id="20" name="Picture 19">
              <a:extLst>
                <a:ext uri="{FF2B5EF4-FFF2-40B4-BE49-F238E27FC236}">
                  <a16:creationId xmlns:a16="http://schemas.microsoft.com/office/drawing/2014/main" id="{E392AE22-800D-BDC5-AE5B-2600BAD62F75}"/>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21" name="Picture 20">
              <a:extLst>
                <a:ext uri="{FF2B5EF4-FFF2-40B4-BE49-F238E27FC236}">
                  <a16:creationId xmlns:a16="http://schemas.microsoft.com/office/drawing/2014/main" id="{B58D7AC3-9FE1-5306-691D-E0082422F4F0}"/>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661528" y="1426384"/>
            <a:ext cx="5677733"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IMPACT &amp; BENEFITS</a:t>
            </a:r>
            <a:endParaRPr lang="en-US" sz="4450" dirty="0">
              <a:latin typeface="Antigoni Med" panose="020B0703020204030204" pitchFamily="34" charset="0"/>
            </a:endParaRPr>
          </a:p>
        </p:txBody>
      </p:sp>
      <p:sp>
        <p:nvSpPr>
          <p:cNvPr id="3" name="Text 1"/>
          <p:cNvSpPr/>
          <p:nvPr/>
        </p:nvSpPr>
        <p:spPr>
          <a:xfrm>
            <a:off x="793790" y="2553655"/>
            <a:ext cx="13042821" cy="3117940"/>
          </a:xfrm>
          <a:prstGeom prst="rect">
            <a:avLst/>
          </a:prstGeom>
          <a:noFill/>
          <a:ln/>
        </p:spPr>
        <p:txBody>
          <a:bodyPr wrap="none" lIns="0" tIns="0" rIns="0" bIns="0" rtlCol="0" anchor="t"/>
          <a:lstStyle/>
          <a:p>
            <a:pPr marL="342900" indent="-342900" algn="l">
              <a:lnSpc>
                <a:spcPct val="200000"/>
              </a:lnSpc>
              <a:buSzPct val="100000"/>
              <a:buChar char="•"/>
            </a:pPr>
            <a:r>
              <a:rPr lang="en-US" dirty="0">
                <a:solidFill>
                  <a:srgbClr val="52586B"/>
                </a:solidFill>
                <a:latin typeface="Funnel Sans" pitchFamily="34" charset="0"/>
                <a:ea typeface="Funnel Sans" pitchFamily="34" charset="-122"/>
                <a:cs typeface="Funnel Sans" pitchFamily="34" charset="-120"/>
              </a:rPr>
              <a:t>Increases infant safety by ensuring fast, accurate alerts for caregiver response.</a:t>
            </a:r>
          </a:p>
          <a:p>
            <a:pPr marL="342900" indent="-342900">
              <a:lnSpc>
                <a:spcPct val="200000"/>
              </a:lnSpc>
              <a:buSzPct val="100000"/>
              <a:buFontTx/>
              <a:buChar char="•"/>
            </a:pPr>
            <a:r>
              <a:rPr lang="en-US" dirty="0">
                <a:solidFill>
                  <a:srgbClr val="52586B"/>
                </a:solidFill>
                <a:latin typeface="Funnel Sans" pitchFamily="34" charset="0"/>
                <a:ea typeface="Funnel Sans" pitchFamily="34" charset="-122"/>
                <a:cs typeface="Funnel Sans" pitchFamily="34" charset="-120"/>
              </a:rPr>
              <a:t>Reduces parental stress and anxiety thanks to reliable cry detection and fewer false alarms.</a:t>
            </a:r>
          </a:p>
          <a:p>
            <a:pPr marL="342900" indent="-342900">
              <a:lnSpc>
                <a:spcPct val="200000"/>
              </a:lnSpc>
              <a:buSzPct val="100000"/>
              <a:buFontTx/>
              <a:buChar char="•"/>
            </a:pPr>
            <a:r>
              <a:rPr lang="en-US" dirty="0">
                <a:solidFill>
                  <a:srgbClr val="52586B"/>
                </a:solidFill>
                <a:latin typeface="Funnel Sans" pitchFamily="34" charset="0"/>
                <a:ea typeface="Funnel Sans" pitchFamily="34" charset="-122"/>
                <a:cs typeface="Funnel Sans" pitchFamily="34" charset="-120"/>
              </a:rPr>
              <a:t>Improves sleep quality for both babies and caregivers by minimizing unnecessary wake-ups.</a:t>
            </a:r>
          </a:p>
          <a:p>
            <a:pPr marL="342900" indent="-342900">
              <a:lnSpc>
                <a:spcPct val="200000"/>
              </a:lnSpc>
              <a:buSzPct val="100000"/>
              <a:buFontTx/>
              <a:buChar char="•"/>
            </a:pPr>
            <a:r>
              <a:rPr lang="en-US" dirty="0">
                <a:solidFill>
                  <a:srgbClr val="52586B"/>
                </a:solidFill>
                <a:latin typeface="Funnel Sans" pitchFamily="34" charset="0"/>
                <a:ea typeface="Funnel Sans" pitchFamily="34" charset="-122"/>
                <a:cs typeface="Funnel Sans" pitchFamily="34" charset="-120"/>
              </a:rPr>
              <a:t>Enables parents to multitask with confidence through instant wireless notifications.</a:t>
            </a:r>
          </a:p>
          <a:p>
            <a:pPr marL="342900" indent="-342900">
              <a:lnSpc>
                <a:spcPct val="200000"/>
              </a:lnSpc>
              <a:buSzPct val="100000"/>
              <a:buFontTx/>
              <a:buChar char="•"/>
            </a:pPr>
            <a:r>
              <a:rPr lang="en-US" dirty="0">
                <a:solidFill>
                  <a:srgbClr val="52586B"/>
                </a:solidFill>
                <a:latin typeface="Funnel Sans" pitchFamily="34" charset="0"/>
                <a:ea typeface="Funnel Sans" pitchFamily="34" charset="-122"/>
                <a:cs typeface="Funnel Sans" pitchFamily="34" charset="-120"/>
              </a:rPr>
              <a:t>Enables parents to multitask with confidence through instant wireless notifications.</a:t>
            </a:r>
            <a:endParaRPr lang="en-US" dirty="0"/>
          </a:p>
          <a:p>
            <a:pPr marL="342900" indent="-342900">
              <a:lnSpc>
                <a:spcPct val="200000"/>
              </a:lnSpc>
              <a:buSzPct val="100000"/>
              <a:buFontTx/>
              <a:buChar char="•"/>
            </a:pPr>
            <a:endParaRPr lang="en-US" dirty="0"/>
          </a:p>
          <a:p>
            <a:pPr marL="342900" indent="-342900">
              <a:lnSpc>
                <a:spcPct val="200000"/>
              </a:lnSpc>
              <a:buSzPct val="100000"/>
              <a:buFontTx/>
              <a:buChar char="•"/>
            </a:pPr>
            <a:endParaRPr lang="en-US" dirty="0"/>
          </a:p>
          <a:p>
            <a:pPr marL="342900" indent="-342900">
              <a:lnSpc>
                <a:spcPct val="200000"/>
              </a:lnSpc>
              <a:buSzPct val="100000"/>
              <a:buFontTx/>
              <a:buChar char="•"/>
            </a:pPr>
            <a:endParaRPr lang="en-US" dirty="0"/>
          </a:p>
          <a:p>
            <a:pPr marL="342900" indent="-342900" algn="l">
              <a:lnSpc>
                <a:spcPct val="200000"/>
              </a:lnSpc>
              <a:buSzPct val="100000"/>
              <a:buChar char="•"/>
            </a:pPr>
            <a:endParaRPr lang="en-US" dirty="0">
              <a:solidFill>
                <a:srgbClr val="52586B"/>
              </a:solidFill>
              <a:latin typeface="Funnel Sans" pitchFamily="34" charset="0"/>
              <a:ea typeface="Funnel Sans" pitchFamily="34" charset="-122"/>
              <a:cs typeface="Funnel Sans" pitchFamily="34" charset="-120"/>
            </a:endParaRPr>
          </a:p>
          <a:p>
            <a:pPr marL="342900" indent="-342900" algn="l">
              <a:lnSpc>
                <a:spcPct val="200000"/>
              </a:lnSpc>
              <a:buSzPct val="100000"/>
              <a:buChar char="•"/>
            </a:pPr>
            <a:endParaRPr lang="en-US" dirty="0"/>
          </a:p>
        </p:txBody>
      </p:sp>
      <p:sp>
        <p:nvSpPr>
          <p:cNvPr id="7" name="Text 5"/>
          <p:cNvSpPr/>
          <p:nvPr/>
        </p:nvSpPr>
        <p:spPr>
          <a:xfrm>
            <a:off x="793790" y="4322447"/>
            <a:ext cx="13042821" cy="36290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8" name="Rectangle 7">
            <a:extLst>
              <a:ext uri="{FF2B5EF4-FFF2-40B4-BE49-F238E27FC236}">
                <a16:creationId xmlns:a16="http://schemas.microsoft.com/office/drawing/2014/main" id="{0AF1A097-DBCA-EC25-1916-C3B97683FA4D}"/>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17189F90-8987-ABE6-BCF0-AB245BCACDA3}"/>
              </a:ext>
            </a:extLst>
          </p:cNvPr>
          <p:cNvGrpSpPr/>
          <p:nvPr/>
        </p:nvGrpSpPr>
        <p:grpSpPr>
          <a:xfrm>
            <a:off x="13098849" y="7649737"/>
            <a:ext cx="1531551" cy="492749"/>
            <a:chOff x="4980356" y="2244940"/>
            <a:chExt cx="4228223" cy="1360354"/>
          </a:xfrm>
        </p:grpSpPr>
        <p:pic>
          <p:nvPicPr>
            <p:cNvPr id="10" name="Picture 9">
              <a:extLst>
                <a:ext uri="{FF2B5EF4-FFF2-40B4-BE49-F238E27FC236}">
                  <a16:creationId xmlns:a16="http://schemas.microsoft.com/office/drawing/2014/main" id="{1D6A88A8-BED9-0A96-886C-36B299764A0C}"/>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1" name="Picture 10">
              <a:extLst>
                <a:ext uri="{FF2B5EF4-FFF2-40B4-BE49-F238E27FC236}">
                  <a16:creationId xmlns:a16="http://schemas.microsoft.com/office/drawing/2014/main" id="{2D867A9C-32A1-EA53-3622-DF8C8234B4AA}"/>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2700278" y="963095"/>
            <a:ext cx="9229844" cy="708065"/>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TECHNOLOGY / METHODOLOGY</a:t>
            </a:r>
            <a:endParaRPr lang="en-US" sz="4450" dirty="0">
              <a:latin typeface="Antigoni Med" panose="020B0703020204030204" pitchFamily="34" charset="0"/>
            </a:endParaRPr>
          </a:p>
        </p:txBody>
      </p:sp>
      <p:sp>
        <p:nvSpPr>
          <p:cNvPr id="3" name="Text 1"/>
          <p:cNvSpPr/>
          <p:nvPr/>
        </p:nvSpPr>
        <p:spPr>
          <a:xfrm>
            <a:off x="793075" y="1897737"/>
            <a:ext cx="6245662" cy="1132999"/>
          </a:xfrm>
          <a:prstGeom prst="rect">
            <a:avLst/>
          </a:prstGeom>
          <a:noFill/>
          <a:ln/>
        </p:spPr>
        <p:txBody>
          <a:bodyPr wrap="squar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Technology Stack/Tools Used</a:t>
            </a:r>
            <a:endParaRPr lang="en-US" sz="3550" dirty="0"/>
          </a:p>
        </p:txBody>
      </p:sp>
      <p:sp>
        <p:nvSpPr>
          <p:cNvPr id="4" name="Text 2"/>
          <p:cNvSpPr/>
          <p:nvPr/>
        </p:nvSpPr>
        <p:spPr>
          <a:xfrm>
            <a:off x="793075" y="3257312"/>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ESP 32</a:t>
            </a:r>
            <a:endParaRPr lang="en-US" sz="1750" dirty="0"/>
          </a:p>
        </p:txBody>
      </p:sp>
      <p:sp>
        <p:nvSpPr>
          <p:cNvPr id="5" name="Text 3"/>
          <p:cNvSpPr/>
          <p:nvPr/>
        </p:nvSpPr>
        <p:spPr>
          <a:xfrm>
            <a:off x="793075" y="3699034"/>
            <a:ext cx="6245662" cy="724853"/>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INMP441 MEMS High Precision Omnidirectional Microphone Module I2S</a:t>
            </a:r>
            <a:endParaRPr lang="en-US" sz="1750" dirty="0"/>
          </a:p>
        </p:txBody>
      </p:sp>
      <p:sp>
        <p:nvSpPr>
          <p:cNvPr id="6" name="Text 4"/>
          <p:cNvSpPr/>
          <p:nvPr/>
        </p:nvSpPr>
        <p:spPr>
          <a:xfrm>
            <a:off x="793075" y="4503182"/>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TTP224 4 Channel Capacitive Touch Sensor Module</a:t>
            </a:r>
            <a:endParaRPr lang="en-US" sz="1750" dirty="0"/>
          </a:p>
        </p:txBody>
      </p:sp>
      <p:sp>
        <p:nvSpPr>
          <p:cNvPr id="7" name="Text 5"/>
          <p:cNvSpPr/>
          <p:nvPr/>
        </p:nvSpPr>
        <p:spPr>
          <a:xfrm>
            <a:off x="793075" y="4944904"/>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Firebase</a:t>
            </a:r>
            <a:endParaRPr lang="en-US" sz="1750" dirty="0"/>
          </a:p>
        </p:txBody>
      </p:sp>
      <p:sp>
        <p:nvSpPr>
          <p:cNvPr id="8" name="Text 6"/>
          <p:cNvSpPr/>
          <p:nvPr/>
        </p:nvSpPr>
        <p:spPr>
          <a:xfrm>
            <a:off x="793075" y="5386626"/>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Adafruit SSD1306 (OLED display control)</a:t>
            </a:r>
            <a:endParaRPr lang="en-US" sz="1750" dirty="0"/>
          </a:p>
        </p:txBody>
      </p:sp>
      <p:sp>
        <p:nvSpPr>
          <p:cNvPr id="9" name="Text 7"/>
          <p:cNvSpPr/>
          <p:nvPr/>
        </p:nvSpPr>
        <p:spPr>
          <a:xfrm>
            <a:off x="793075" y="5828348"/>
            <a:ext cx="6245662" cy="362426"/>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SD Card Module</a:t>
            </a:r>
            <a:endParaRPr lang="en-US" sz="1750" dirty="0"/>
          </a:p>
        </p:txBody>
      </p:sp>
      <p:sp>
        <p:nvSpPr>
          <p:cNvPr id="10" name="Text 8"/>
          <p:cNvSpPr/>
          <p:nvPr/>
        </p:nvSpPr>
        <p:spPr>
          <a:xfrm>
            <a:off x="7599283" y="1897737"/>
            <a:ext cx="5255657" cy="566499"/>
          </a:xfrm>
          <a:prstGeom prst="rect">
            <a:avLst/>
          </a:prstGeom>
          <a:noFill/>
          <a:ln/>
        </p:spPr>
        <p:txBody>
          <a:bodyPr wrap="non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Approach/Methodology</a:t>
            </a:r>
            <a:endParaRPr lang="en-US" sz="3550" dirty="0"/>
          </a:p>
        </p:txBody>
      </p:sp>
      <p:sp>
        <p:nvSpPr>
          <p:cNvPr id="11" name="Text 9"/>
          <p:cNvSpPr/>
          <p:nvPr/>
        </p:nvSpPr>
        <p:spPr>
          <a:xfrm>
            <a:off x="7599283" y="2690813"/>
            <a:ext cx="6245662" cy="4711541"/>
          </a:xfrm>
          <a:prstGeom prst="rect">
            <a:avLst/>
          </a:prstGeom>
          <a:noFill/>
          <a:ln/>
        </p:spPr>
        <p:txBody>
          <a:bodyPr wrap="square" lIns="0" tIns="0" rIns="0" bIns="0" rtlCol="0" anchor="t"/>
          <a:lstStyle/>
          <a:p>
            <a:pPr marL="285750" indent="-285750" algn="l">
              <a:lnSpc>
                <a:spcPts val="2850"/>
              </a:lnSpc>
              <a:buFont typeface="Arial" panose="020B0604020202020204" pitchFamily="34" charset="0"/>
              <a:buChar char="•"/>
            </a:pPr>
            <a:r>
              <a:rPr lang="en-GB" sz="1600" dirty="0">
                <a:solidFill>
                  <a:srgbClr val="52586B"/>
                </a:solidFill>
                <a:latin typeface="Funnel Sans" pitchFamily="34" charset="0"/>
                <a:ea typeface="Funnel Sans" pitchFamily="34" charset="-122"/>
                <a:cs typeface="Funnel Sans" pitchFamily="34" charset="-120"/>
              </a:rPr>
              <a:t>The ESP32 processes real-time sound from the INMP441 MEMS microphone to detect infant cries.</a:t>
            </a:r>
          </a:p>
          <a:p>
            <a:pPr marL="285750" indent="-285750" algn="l">
              <a:lnSpc>
                <a:spcPts val="2850"/>
              </a:lnSpc>
              <a:buFont typeface="Arial" panose="020B0604020202020204" pitchFamily="34" charset="0"/>
              <a:buChar char="•"/>
            </a:pPr>
            <a:r>
              <a:rPr lang="en-GB" sz="1600" dirty="0">
                <a:solidFill>
                  <a:srgbClr val="52586B"/>
                </a:solidFill>
                <a:latin typeface="Funnel Sans" pitchFamily="34" charset="0"/>
                <a:ea typeface="Funnel Sans" pitchFamily="34" charset="-122"/>
                <a:cs typeface="Funnel Sans" pitchFamily="34" charset="-120"/>
              </a:rPr>
              <a:t>Upon cry detection, the OLED display (SSD1306) immediately prompts the caregiver to identify the reason for crying.</a:t>
            </a:r>
          </a:p>
          <a:p>
            <a:pPr marL="285750" indent="-285750" algn="l">
              <a:lnSpc>
                <a:spcPts val="2850"/>
              </a:lnSpc>
              <a:buFont typeface="Arial" panose="020B0604020202020204" pitchFamily="34" charset="0"/>
              <a:buChar char="•"/>
            </a:pPr>
            <a:r>
              <a:rPr lang="en-GB" sz="1600" dirty="0">
                <a:solidFill>
                  <a:srgbClr val="52586B"/>
                </a:solidFill>
                <a:latin typeface="Funnel Sans" pitchFamily="34" charset="0"/>
                <a:ea typeface="Funnel Sans" pitchFamily="34" charset="-122"/>
                <a:cs typeface="Funnel Sans" pitchFamily="34" charset="-120"/>
              </a:rPr>
              <a:t>The caregiver uses the TTP224 4-channel touch sensor to select the appropriate cry reason.</a:t>
            </a:r>
          </a:p>
          <a:p>
            <a:pPr marL="285750" indent="-285750" algn="l">
              <a:lnSpc>
                <a:spcPts val="2850"/>
              </a:lnSpc>
              <a:buFont typeface="Arial" panose="020B0604020202020204" pitchFamily="34" charset="0"/>
              <a:buChar char="•"/>
            </a:pPr>
            <a:r>
              <a:rPr lang="en-GB" sz="1600" dirty="0">
                <a:solidFill>
                  <a:srgbClr val="52586B"/>
                </a:solidFill>
                <a:latin typeface="Funnel Sans" pitchFamily="34" charset="0"/>
                <a:ea typeface="Funnel Sans" pitchFamily="34" charset="-122"/>
                <a:cs typeface="Funnel Sans" pitchFamily="34" charset="-120"/>
              </a:rPr>
              <a:t>Each cry event, along with the selected reason and timestamp, is saved locally on the SD card module.</a:t>
            </a:r>
          </a:p>
          <a:p>
            <a:pPr marL="285750" indent="-285750" algn="l">
              <a:lnSpc>
                <a:spcPts val="2850"/>
              </a:lnSpc>
              <a:buFont typeface="Arial" panose="020B0604020202020204" pitchFamily="34" charset="0"/>
              <a:buChar char="•"/>
            </a:pPr>
            <a:r>
              <a:rPr lang="en-GB" sz="1600" dirty="0">
                <a:solidFill>
                  <a:srgbClr val="52586B"/>
                </a:solidFill>
                <a:latin typeface="Funnel Sans" pitchFamily="34" charset="0"/>
                <a:ea typeface="Funnel Sans" pitchFamily="34" charset="-122"/>
                <a:cs typeface="Funnel Sans" pitchFamily="34" charset="-120"/>
              </a:rPr>
              <a:t>The same event data is simultaneously uploaded to Firebase, enabling real-time remote monitoring and centralized storage.</a:t>
            </a:r>
          </a:p>
          <a:p>
            <a:pPr marL="285750" indent="-285750" algn="l">
              <a:lnSpc>
                <a:spcPts val="2850"/>
              </a:lnSpc>
              <a:buFont typeface="Arial" panose="020B0604020202020204" pitchFamily="34" charset="0"/>
              <a:buChar char="•"/>
            </a:pPr>
            <a:r>
              <a:rPr lang="en-GB" sz="1600" dirty="0">
                <a:solidFill>
                  <a:srgbClr val="52586B"/>
                </a:solidFill>
                <a:latin typeface="Funnel Sans" pitchFamily="34" charset="0"/>
                <a:ea typeface="Funnel Sans" pitchFamily="34" charset="-122"/>
                <a:cs typeface="Funnel Sans" pitchFamily="34" charset="-120"/>
              </a:rPr>
              <a:t>This modular approach supports future analytics, reporting, and integration of machine learning for further system enhancements.</a:t>
            </a:r>
            <a:endParaRPr lang="en-US" sz="1600" dirty="0"/>
          </a:p>
        </p:txBody>
      </p:sp>
      <p:sp>
        <p:nvSpPr>
          <p:cNvPr id="12" name="Rectangle 11">
            <a:extLst>
              <a:ext uri="{FF2B5EF4-FFF2-40B4-BE49-F238E27FC236}">
                <a16:creationId xmlns:a16="http://schemas.microsoft.com/office/drawing/2014/main" id="{EE03BD30-9589-CB5F-DA4E-D56AB5064CDB}"/>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a:extLst>
              <a:ext uri="{FF2B5EF4-FFF2-40B4-BE49-F238E27FC236}">
                <a16:creationId xmlns:a16="http://schemas.microsoft.com/office/drawing/2014/main" id="{0D57FEA4-8B09-6E54-F2ED-FA92A84DB4BF}"/>
              </a:ext>
            </a:extLst>
          </p:cNvPr>
          <p:cNvGrpSpPr/>
          <p:nvPr/>
        </p:nvGrpSpPr>
        <p:grpSpPr>
          <a:xfrm>
            <a:off x="13098849" y="7649737"/>
            <a:ext cx="1531551" cy="492749"/>
            <a:chOff x="4980356" y="2244940"/>
            <a:chExt cx="4228223" cy="1360354"/>
          </a:xfrm>
        </p:grpSpPr>
        <p:pic>
          <p:nvPicPr>
            <p:cNvPr id="14" name="Picture 13">
              <a:extLst>
                <a:ext uri="{FF2B5EF4-FFF2-40B4-BE49-F238E27FC236}">
                  <a16:creationId xmlns:a16="http://schemas.microsoft.com/office/drawing/2014/main" id="{7E4A2789-A538-F12C-CBF5-91D6502D130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5" name="Picture 14">
              <a:extLst>
                <a:ext uri="{FF2B5EF4-FFF2-40B4-BE49-F238E27FC236}">
                  <a16:creationId xmlns:a16="http://schemas.microsoft.com/office/drawing/2014/main" id="{579CD68E-525C-0B4F-68A7-68BD102E7F86}"/>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159418"/>
            <a:ext cx="12392501" cy="673418"/>
          </a:xfrm>
          <a:prstGeom prst="rect">
            <a:avLst/>
          </a:prstGeom>
          <a:noFill/>
          <a:ln/>
        </p:spPr>
        <p:txBody>
          <a:bodyPr wrap="none" lIns="0" tIns="0" rIns="0" bIns="0" rtlCol="0" anchor="t"/>
          <a:lstStyle/>
          <a:p>
            <a:pPr marL="0" indent="0" algn="ctr">
              <a:lnSpc>
                <a:spcPts val="5300"/>
              </a:lnSpc>
              <a:buNone/>
            </a:pPr>
            <a:r>
              <a:rPr lang="en-US" sz="4200" dirty="0">
                <a:solidFill>
                  <a:srgbClr val="373B48"/>
                </a:solidFill>
                <a:latin typeface="Antigoni Med" panose="020B0703020204030204" pitchFamily="34" charset="0"/>
                <a:ea typeface="Mona Sans Semi Bold" pitchFamily="34" charset="-122"/>
                <a:cs typeface="Mona Sans Semi Bold" pitchFamily="34" charset="-120"/>
              </a:rPr>
              <a:t>PROTOTYPE</a:t>
            </a:r>
            <a:endParaRPr lang="en-US" sz="4200" dirty="0">
              <a:latin typeface="Antigoni Med" panose="020B0703020204030204" pitchFamily="34" charset="0"/>
            </a:endParaRPr>
          </a:p>
        </p:txBody>
      </p:sp>
      <p:pic>
        <p:nvPicPr>
          <p:cNvPr id="3" name="Image 0" descr="preencoded.png"/>
          <p:cNvPicPr>
            <a:picLocks noChangeAspect="1"/>
          </p:cNvPicPr>
          <p:nvPr/>
        </p:nvPicPr>
        <p:blipFill>
          <a:blip r:embed="rId3"/>
          <a:stretch>
            <a:fillRect/>
          </a:stretch>
        </p:blipFill>
        <p:spPr>
          <a:xfrm>
            <a:off x="2564717" y="1931101"/>
            <a:ext cx="8242340" cy="5494853"/>
          </a:xfrm>
          <a:prstGeom prst="rect">
            <a:avLst/>
          </a:prstGeom>
          <a:effectLst>
            <a:softEdge rad="317500"/>
          </a:effectLst>
        </p:spPr>
      </p:pic>
      <p:sp>
        <p:nvSpPr>
          <p:cNvPr id="4" name="Rectangle 3">
            <a:extLst>
              <a:ext uri="{FF2B5EF4-FFF2-40B4-BE49-F238E27FC236}">
                <a16:creationId xmlns:a16="http://schemas.microsoft.com/office/drawing/2014/main" id="{F3F859AD-65FE-CDC0-917B-C9009418E21E}"/>
              </a:ext>
            </a:extLst>
          </p:cNvPr>
          <p:cNvSpPr/>
          <p:nvPr/>
        </p:nvSpPr>
        <p:spPr>
          <a:xfrm>
            <a:off x="12556273" y="7538224"/>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D848C6D9-0CB1-AB3A-3C32-C6E8AD20A2F8}"/>
              </a:ext>
            </a:extLst>
          </p:cNvPr>
          <p:cNvGrpSpPr/>
          <p:nvPr/>
        </p:nvGrpSpPr>
        <p:grpSpPr>
          <a:xfrm>
            <a:off x="13098849" y="7649737"/>
            <a:ext cx="1531551" cy="492749"/>
            <a:chOff x="4980356" y="2244940"/>
            <a:chExt cx="4228223" cy="1360354"/>
          </a:xfrm>
        </p:grpSpPr>
        <p:pic>
          <p:nvPicPr>
            <p:cNvPr id="6" name="Picture 5">
              <a:extLst>
                <a:ext uri="{FF2B5EF4-FFF2-40B4-BE49-F238E27FC236}">
                  <a16:creationId xmlns:a16="http://schemas.microsoft.com/office/drawing/2014/main" id="{E6D07A2E-95FF-D322-C874-3D762DFFEC37}"/>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7" name="Picture 6">
              <a:extLst>
                <a:ext uri="{FF2B5EF4-FFF2-40B4-BE49-F238E27FC236}">
                  <a16:creationId xmlns:a16="http://schemas.microsoft.com/office/drawing/2014/main" id="{84161AF9-F08B-98F8-B92A-2CF8D500E440}"/>
                </a:ext>
              </a:extLst>
            </p:cNvPr>
            <p:cNvPicPr>
              <a:picLocks noChangeAspect="1"/>
            </p:cNvPicPr>
            <p:nvPr/>
          </p:nvPicPr>
          <p:blipFill>
            <a:blip r:embed="rId6">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202113" y="1207908"/>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FEASIBILITY</a:t>
            </a:r>
            <a:endParaRPr lang="en-US" sz="4450" dirty="0">
              <a:latin typeface="Antigoni Med" panose="020B0703020204030204" pitchFamily="34" charset="0"/>
            </a:endParaRPr>
          </a:p>
        </p:txBody>
      </p:sp>
      <p:sp>
        <p:nvSpPr>
          <p:cNvPr id="3" name="Text 1"/>
          <p:cNvSpPr/>
          <p:nvPr/>
        </p:nvSpPr>
        <p:spPr>
          <a:xfrm>
            <a:off x="1083157" y="2310724"/>
            <a:ext cx="13042821" cy="362903"/>
          </a:xfrm>
          <a:prstGeom prst="rect">
            <a:avLst/>
          </a:prstGeom>
          <a:noFill/>
          <a:ln/>
        </p:spPr>
        <p:txBody>
          <a:bodyPr wrap="none" lIns="0" tIns="0" rIns="0" bIns="0" rtlCol="0" anchor="t"/>
          <a:lstStyle/>
          <a:p>
            <a:pPr marL="342900" indent="-342900">
              <a:lnSpc>
                <a:spcPts val="2850"/>
              </a:lnSpc>
              <a:buSzPct val="100000"/>
              <a:buChar char="•"/>
            </a:pPr>
            <a:r>
              <a:rPr lang="en-US" sz="2000" dirty="0">
                <a:solidFill>
                  <a:srgbClr val="52586B"/>
                </a:solidFill>
                <a:latin typeface="Funnel Sans" pitchFamily="34" charset="0"/>
                <a:ea typeface="Funnel Sans" pitchFamily="34" charset="-122"/>
                <a:cs typeface="Funnel Sans" pitchFamily="34" charset="-120"/>
              </a:rPr>
              <a:t>All components are affordable, widely available, and compatible for smooth integration.</a:t>
            </a:r>
            <a:endParaRPr lang="en-US" sz="2000" dirty="0"/>
          </a:p>
        </p:txBody>
      </p:sp>
      <p:sp>
        <p:nvSpPr>
          <p:cNvPr id="4" name="Text 2"/>
          <p:cNvSpPr/>
          <p:nvPr/>
        </p:nvSpPr>
        <p:spPr>
          <a:xfrm>
            <a:off x="1083157" y="2752922"/>
            <a:ext cx="13042821" cy="362903"/>
          </a:xfrm>
          <a:prstGeom prst="rect">
            <a:avLst/>
          </a:prstGeom>
          <a:noFill/>
          <a:ln/>
        </p:spPr>
        <p:txBody>
          <a:bodyPr wrap="none" lIns="0" tIns="0" rIns="0" bIns="0" rtlCol="0" anchor="t"/>
          <a:lstStyle/>
          <a:p>
            <a:pPr marL="342900" indent="-342900">
              <a:lnSpc>
                <a:spcPts val="2850"/>
              </a:lnSpc>
              <a:buSzPct val="100000"/>
              <a:buChar char="•"/>
            </a:pPr>
            <a:r>
              <a:rPr lang="en-US" sz="2000" dirty="0">
                <a:solidFill>
                  <a:srgbClr val="52586B"/>
                </a:solidFill>
                <a:latin typeface="Funnel Sans" pitchFamily="34" charset="0"/>
                <a:ea typeface="Funnel Sans" pitchFamily="34" charset="-122"/>
                <a:cs typeface="Funnel Sans" pitchFamily="34" charset="-120"/>
              </a:rPr>
              <a:t>ESP32 offers reliable processing power and easy cloud connectivity via Firebase.</a:t>
            </a:r>
            <a:endParaRPr lang="en-US" sz="2000" dirty="0"/>
          </a:p>
        </p:txBody>
      </p:sp>
      <p:sp>
        <p:nvSpPr>
          <p:cNvPr id="5" name="Text 3"/>
          <p:cNvSpPr/>
          <p:nvPr/>
        </p:nvSpPr>
        <p:spPr>
          <a:xfrm>
            <a:off x="1083157" y="3195120"/>
            <a:ext cx="13042821" cy="362903"/>
          </a:xfrm>
          <a:prstGeom prst="rect">
            <a:avLst/>
          </a:prstGeom>
          <a:noFill/>
          <a:ln/>
        </p:spPr>
        <p:txBody>
          <a:bodyPr wrap="none" lIns="0" tIns="0" rIns="0" bIns="0" rtlCol="0" anchor="t"/>
          <a:lstStyle/>
          <a:p>
            <a:pPr marL="342900" indent="-342900">
              <a:lnSpc>
                <a:spcPts val="2850"/>
              </a:lnSpc>
              <a:buSzPct val="100000"/>
              <a:buChar char="•"/>
            </a:pPr>
            <a:r>
              <a:rPr lang="en-US" sz="2000" dirty="0">
                <a:solidFill>
                  <a:srgbClr val="52586B"/>
                </a:solidFill>
                <a:latin typeface="Funnel Sans" pitchFamily="34" charset="0"/>
                <a:ea typeface="Funnel Sans" pitchFamily="34" charset="-122"/>
                <a:cs typeface="Funnel Sans" pitchFamily="34" charset="-120"/>
              </a:rPr>
              <a:t>Development is simplified thanks to open-source libraries for each module.</a:t>
            </a:r>
            <a:endParaRPr lang="en-US" sz="2000" dirty="0"/>
          </a:p>
        </p:txBody>
      </p:sp>
      <p:sp>
        <p:nvSpPr>
          <p:cNvPr id="6" name="Text 4"/>
          <p:cNvSpPr/>
          <p:nvPr/>
        </p:nvSpPr>
        <p:spPr>
          <a:xfrm>
            <a:off x="1083157" y="3637318"/>
            <a:ext cx="13042821" cy="362903"/>
          </a:xfrm>
          <a:prstGeom prst="rect">
            <a:avLst/>
          </a:prstGeom>
          <a:noFill/>
          <a:ln/>
        </p:spPr>
        <p:txBody>
          <a:bodyPr wrap="none" lIns="0" tIns="0" rIns="0" bIns="0" rtlCol="0" anchor="t"/>
          <a:lstStyle/>
          <a:p>
            <a:pPr marL="342900" indent="-342900">
              <a:lnSpc>
                <a:spcPts val="2850"/>
              </a:lnSpc>
              <a:buSzPct val="100000"/>
              <a:buChar char="•"/>
            </a:pPr>
            <a:r>
              <a:rPr lang="en-US" sz="2000" dirty="0">
                <a:solidFill>
                  <a:srgbClr val="52586B"/>
                </a:solidFill>
                <a:latin typeface="Funnel Sans" pitchFamily="34" charset="0"/>
                <a:ea typeface="Funnel Sans" pitchFamily="34" charset="-122"/>
                <a:cs typeface="Funnel Sans" pitchFamily="34" charset="-120"/>
              </a:rPr>
              <a:t>The system is modular and can be assembled with basic prototyping skills.</a:t>
            </a:r>
            <a:endParaRPr lang="en-US" sz="2000" dirty="0"/>
          </a:p>
        </p:txBody>
      </p:sp>
      <p:sp>
        <p:nvSpPr>
          <p:cNvPr id="7" name="Text 5"/>
          <p:cNvSpPr/>
          <p:nvPr/>
        </p:nvSpPr>
        <p:spPr>
          <a:xfrm>
            <a:off x="1083157" y="4079516"/>
            <a:ext cx="13042821" cy="362903"/>
          </a:xfrm>
          <a:prstGeom prst="rect">
            <a:avLst/>
          </a:prstGeom>
          <a:noFill/>
          <a:ln/>
        </p:spPr>
        <p:txBody>
          <a:bodyPr wrap="none" lIns="0" tIns="0" rIns="0" bIns="0" rtlCol="0" anchor="t"/>
          <a:lstStyle/>
          <a:p>
            <a:pPr marL="342900" indent="-342900">
              <a:lnSpc>
                <a:spcPts val="2850"/>
              </a:lnSpc>
              <a:buSzPct val="100000"/>
              <a:buChar char="•"/>
            </a:pPr>
            <a:r>
              <a:rPr lang="en-US" sz="2000" dirty="0">
                <a:solidFill>
                  <a:srgbClr val="52586B"/>
                </a:solidFill>
                <a:latin typeface="Funnel Sans" pitchFamily="34" charset="0"/>
                <a:ea typeface="Funnel Sans" pitchFamily="34" charset="-122"/>
                <a:cs typeface="Funnel Sans" pitchFamily="34" charset="-120"/>
              </a:rPr>
              <a:t>Design allows for future upgrades, including advanced features or machine learning.</a:t>
            </a:r>
            <a:endParaRPr lang="en-US" sz="2000" dirty="0"/>
          </a:p>
        </p:txBody>
      </p:sp>
      <p:sp>
        <p:nvSpPr>
          <p:cNvPr id="8" name="Rectangle 7">
            <a:extLst>
              <a:ext uri="{FF2B5EF4-FFF2-40B4-BE49-F238E27FC236}">
                <a16:creationId xmlns:a16="http://schemas.microsoft.com/office/drawing/2014/main" id="{9666332F-7ECC-A918-2FE9-5308049CC8F6}"/>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E909EF27-EC98-24ED-11F9-C8F95BB403AA}"/>
              </a:ext>
            </a:extLst>
          </p:cNvPr>
          <p:cNvGrpSpPr/>
          <p:nvPr/>
        </p:nvGrpSpPr>
        <p:grpSpPr>
          <a:xfrm>
            <a:off x="13098849" y="7649737"/>
            <a:ext cx="1531551" cy="492749"/>
            <a:chOff x="4980356" y="2244940"/>
            <a:chExt cx="4228223" cy="1360354"/>
          </a:xfrm>
        </p:grpSpPr>
        <p:pic>
          <p:nvPicPr>
            <p:cNvPr id="10" name="Picture 9">
              <a:extLst>
                <a:ext uri="{FF2B5EF4-FFF2-40B4-BE49-F238E27FC236}">
                  <a16:creationId xmlns:a16="http://schemas.microsoft.com/office/drawing/2014/main" id="{D405C98F-473C-5FC0-C4D6-43760CB7B3E0}"/>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1" name="Picture 10">
              <a:extLst>
                <a:ext uri="{FF2B5EF4-FFF2-40B4-BE49-F238E27FC236}">
                  <a16:creationId xmlns:a16="http://schemas.microsoft.com/office/drawing/2014/main" id="{94656C6E-E240-30F7-592C-3A7125F805E1}"/>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29459" y="1388261"/>
            <a:ext cx="5992416"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CHALLENGES FACED</a:t>
            </a:r>
            <a:endParaRPr lang="en-US" sz="4450" dirty="0">
              <a:latin typeface="Antigoni Med" panose="020B0703020204030204" pitchFamily="34" charset="0"/>
            </a:endParaRPr>
          </a:p>
        </p:txBody>
      </p:sp>
      <p:sp>
        <p:nvSpPr>
          <p:cNvPr id="3" name="Text 1"/>
          <p:cNvSpPr/>
          <p:nvPr/>
        </p:nvSpPr>
        <p:spPr>
          <a:xfrm>
            <a:off x="793790" y="2528231"/>
            <a:ext cx="6240304" cy="566976"/>
          </a:xfrm>
          <a:prstGeom prst="rect">
            <a:avLst/>
          </a:prstGeom>
          <a:noFill/>
          <a:ln/>
        </p:spPr>
        <p:txBody>
          <a:bodyPr wrap="non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Key Challenges or Obstacles</a:t>
            </a:r>
            <a:endParaRPr lang="en-US" sz="3550" dirty="0"/>
          </a:p>
        </p:txBody>
      </p:sp>
      <p:sp>
        <p:nvSpPr>
          <p:cNvPr id="4" name="Text 2"/>
          <p:cNvSpPr/>
          <p:nvPr/>
        </p:nvSpPr>
        <p:spPr>
          <a:xfrm>
            <a:off x="793790" y="332202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Ensuring accurate cry detection while minimizing false alarms from background noise.</a:t>
            </a:r>
            <a:endParaRPr lang="en-US" sz="1750" dirty="0"/>
          </a:p>
        </p:txBody>
      </p:sp>
      <p:sp>
        <p:nvSpPr>
          <p:cNvPr id="5" name="Text 3"/>
          <p:cNvSpPr/>
          <p:nvPr/>
        </p:nvSpPr>
        <p:spPr>
          <a:xfrm>
            <a:off x="793790" y="4127121"/>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Achieving reliable, real-time data syncing with Firebase.</a:t>
            </a:r>
            <a:endParaRPr lang="en-US" sz="1750" dirty="0"/>
          </a:p>
        </p:txBody>
      </p:sp>
      <p:sp>
        <p:nvSpPr>
          <p:cNvPr id="6" name="Text 4"/>
          <p:cNvSpPr/>
          <p:nvPr/>
        </p:nvSpPr>
        <p:spPr>
          <a:xfrm>
            <a:off x="793790" y="4569319"/>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Collecting consistent and accurate user-labelled cry data.</a:t>
            </a:r>
            <a:endParaRPr lang="en-US" sz="1750" dirty="0"/>
          </a:p>
        </p:txBody>
      </p:sp>
      <p:sp>
        <p:nvSpPr>
          <p:cNvPr id="7" name="Text 5"/>
          <p:cNvSpPr/>
          <p:nvPr/>
        </p:nvSpPr>
        <p:spPr>
          <a:xfrm>
            <a:off x="793790" y="501151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Balancing power efficiency with prompt system response.</a:t>
            </a:r>
            <a:endParaRPr lang="en-US" sz="1750" dirty="0"/>
          </a:p>
        </p:txBody>
      </p:sp>
      <p:sp>
        <p:nvSpPr>
          <p:cNvPr id="8" name="Text 6"/>
          <p:cNvSpPr/>
          <p:nvPr/>
        </p:nvSpPr>
        <p:spPr>
          <a:xfrm>
            <a:off x="7599521" y="2528231"/>
            <a:ext cx="5234702" cy="566976"/>
          </a:xfrm>
          <a:prstGeom prst="rect">
            <a:avLst/>
          </a:prstGeom>
          <a:noFill/>
          <a:ln/>
        </p:spPr>
        <p:txBody>
          <a:bodyPr wrap="none" lIns="0" tIns="0" rIns="0" bIns="0" rtlCol="0" anchor="t"/>
          <a:lstStyle/>
          <a:p>
            <a:pPr marL="0" indent="0" algn="l">
              <a:lnSpc>
                <a:spcPts val="4450"/>
              </a:lnSpc>
              <a:buNone/>
            </a:pPr>
            <a:r>
              <a:rPr lang="en-US" sz="3550" dirty="0">
                <a:solidFill>
                  <a:srgbClr val="373B48"/>
                </a:solidFill>
                <a:latin typeface="Mona Sans Semi Bold" pitchFamily="34" charset="0"/>
                <a:ea typeface="Mona Sans Semi Bold" pitchFamily="34" charset="-122"/>
                <a:cs typeface="Mona Sans Semi Bold" pitchFamily="34" charset="-120"/>
              </a:rPr>
              <a:t>Solutions</a:t>
            </a:r>
            <a:r>
              <a:rPr lang="en-US" sz="3550" dirty="0">
                <a:solidFill>
                  <a:srgbClr val="F1E67F"/>
                </a:solidFill>
                <a:latin typeface="Mona Sans Semi Bold" pitchFamily="34" charset="0"/>
                <a:ea typeface="Mona Sans Semi Bold" pitchFamily="34" charset="-122"/>
                <a:cs typeface="Mona Sans Semi Bold" pitchFamily="34" charset="-120"/>
              </a:rPr>
              <a:t>/</a:t>
            </a:r>
            <a:r>
              <a:rPr lang="en-US" sz="3550" dirty="0">
                <a:solidFill>
                  <a:srgbClr val="373B48"/>
                </a:solidFill>
                <a:latin typeface="Mona Sans Semi Bold" pitchFamily="34" charset="0"/>
                <a:ea typeface="Mona Sans Semi Bold" pitchFamily="34" charset="-122"/>
                <a:cs typeface="Mona Sans Semi Bold" pitchFamily="34" charset="-120"/>
              </a:rPr>
              <a:t>Workarounds</a:t>
            </a:r>
            <a:endParaRPr lang="en-US" sz="3550" dirty="0"/>
          </a:p>
        </p:txBody>
      </p:sp>
      <p:sp>
        <p:nvSpPr>
          <p:cNvPr id="9" name="Text 7"/>
          <p:cNvSpPr/>
          <p:nvPr/>
        </p:nvSpPr>
        <p:spPr>
          <a:xfrm>
            <a:off x="7599521" y="332202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Use noise filtering and adjustable sensitivity to improve cry detection accuracy.</a:t>
            </a:r>
            <a:endParaRPr lang="en-US" sz="1750" dirty="0"/>
          </a:p>
        </p:txBody>
      </p:sp>
      <p:sp>
        <p:nvSpPr>
          <p:cNvPr id="10" name="Text 8"/>
          <p:cNvSpPr/>
          <p:nvPr/>
        </p:nvSpPr>
        <p:spPr>
          <a:xfrm>
            <a:off x="7599521" y="412712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Implement local data buffering and automatic syncing to handle network issues with Firebase.</a:t>
            </a:r>
            <a:endParaRPr lang="en-US" sz="1750" dirty="0"/>
          </a:p>
        </p:txBody>
      </p:sp>
      <p:sp>
        <p:nvSpPr>
          <p:cNvPr id="11" name="Text 9"/>
          <p:cNvSpPr/>
          <p:nvPr/>
        </p:nvSpPr>
        <p:spPr>
          <a:xfrm>
            <a:off x="7599521" y="4932222"/>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Provide clear prompts on the OLED and simple touch input to encourage consistent user labeling.</a:t>
            </a:r>
            <a:endParaRPr lang="en-US" sz="1750" dirty="0"/>
          </a:p>
        </p:txBody>
      </p:sp>
      <p:sp>
        <p:nvSpPr>
          <p:cNvPr id="12" name="Text 10"/>
          <p:cNvSpPr/>
          <p:nvPr/>
        </p:nvSpPr>
        <p:spPr>
          <a:xfrm>
            <a:off x="7599521" y="5737323"/>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Enable ESP32 low-power modes and optimize code for energy efficiency.</a:t>
            </a:r>
            <a:endParaRPr lang="en-US" sz="1750" dirty="0"/>
          </a:p>
        </p:txBody>
      </p:sp>
      <p:sp>
        <p:nvSpPr>
          <p:cNvPr id="13" name="Text 11"/>
          <p:cNvSpPr/>
          <p:nvPr/>
        </p:nvSpPr>
        <p:spPr>
          <a:xfrm>
            <a:off x="7599521" y="6542423"/>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Support over-the-air firmware updates for easy improvements and fixes.</a:t>
            </a:r>
            <a:endParaRPr lang="en-US" sz="1750" dirty="0"/>
          </a:p>
        </p:txBody>
      </p:sp>
      <p:sp>
        <p:nvSpPr>
          <p:cNvPr id="14" name="Rectangle 13">
            <a:extLst>
              <a:ext uri="{FF2B5EF4-FFF2-40B4-BE49-F238E27FC236}">
                <a16:creationId xmlns:a16="http://schemas.microsoft.com/office/drawing/2014/main" id="{04989BA4-AAD5-3764-9074-799A0F5FB5D2}"/>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 name="Group 14">
            <a:extLst>
              <a:ext uri="{FF2B5EF4-FFF2-40B4-BE49-F238E27FC236}">
                <a16:creationId xmlns:a16="http://schemas.microsoft.com/office/drawing/2014/main" id="{97571B00-0983-B5A6-D1A4-2E676A598C71}"/>
              </a:ext>
            </a:extLst>
          </p:cNvPr>
          <p:cNvGrpSpPr/>
          <p:nvPr/>
        </p:nvGrpSpPr>
        <p:grpSpPr>
          <a:xfrm>
            <a:off x="13098849" y="7649737"/>
            <a:ext cx="1531551" cy="492749"/>
            <a:chOff x="4980356" y="2244940"/>
            <a:chExt cx="4228223" cy="1360354"/>
          </a:xfrm>
        </p:grpSpPr>
        <p:pic>
          <p:nvPicPr>
            <p:cNvPr id="16" name="Picture 15">
              <a:extLst>
                <a:ext uri="{FF2B5EF4-FFF2-40B4-BE49-F238E27FC236}">
                  <a16:creationId xmlns:a16="http://schemas.microsoft.com/office/drawing/2014/main" id="{2602207B-6155-2A39-9E1C-43C325477F6C}"/>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7" name="Picture 16">
              <a:extLst>
                <a:ext uri="{FF2B5EF4-FFF2-40B4-BE49-F238E27FC236}">
                  <a16:creationId xmlns:a16="http://schemas.microsoft.com/office/drawing/2014/main" id="{EF3E2459-D9BD-7CFB-244A-26704A8CB930}"/>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181300" y="1510545"/>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FUTURE SCOPE</a:t>
            </a:r>
            <a:endParaRPr lang="en-US" sz="4450" dirty="0">
              <a:latin typeface="Antigoni Med" panose="020B0703020204030204" pitchFamily="34" charset="0"/>
            </a:endParaRPr>
          </a:p>
        </p:txBody>
      </p:sp>
      <p:sp>
        <p:nvSpPr>
          <p:cNvPr id="3" name="Text 1"/>
          <p:cNvSpPr/>
          <p:nvPr/>
        </p:nvSpPr>
        <p:spPr>
          <a:xfrm>
            <a:off x="793790" y="2652360"/>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Integrate machine learning for automatic classification of different types of baby cries.</a:t>
            </a:r>
            <a:endParaRPr lang="en-US" sz="1750" dirty="0"/>
          </a:p>
        </p:txBody>
      </p:sp>
      <p:sp>
        <p:nvSpPr>
          <p:cNvPr id="4" name="Text 2"/>
          <p:cNvSpPr/>
          <p:nvPr/>
        </p:nvSpPr>
        <p:spPr>
          <a:xfrm>
            <a:off x="793790" y="309455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Develop a mobile or web dashboard for real-time data visualization and caregiver insights.</a:t>
            </a:r>
            <a:endParaRPr lang="en-US" sz="1750" dirty="0"/>
          </a:p>
        </p:txBody>
      </p:sp>
      <p:sp>
        <p:nvSpPr>
          <p:cNvPr id="5" name="Text 3"/>
          <p:cNvSpPr/>
          <p:nvPr/>
        </p:nvSpPr>
        <p:spPr>
          <a:xfrm>
            <a:off x="793790" y="3536756"/>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Expand system features with additional sensors (e.g., temperature, humidity) for comprehensive monitoring.</a:t>
            </a:r>
            <a:endParaRPr lang="en-US" sz="1750" dirty="0"/>
          </a:p>
        </p:txBody>
      </p:sp>
      <p:sp>
        <p:nvSpPr>
          <p:cNvPr id="6" name="Text 4"/>
          <p:cNvSpPr/>
          <p:nvPr/>
        </p:nvSpPr>
        <p:spPr>
          <a:xfrm>
            <a:off x="793790" y="397895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Optimize power efficiency and enable remote firmware updates for easier maintenance.</a:t>
            </a:r>
            <a:endParaRPr lang="en-US" sz="1750" dirty="0"/>
          </a:p>
        </p:txBody>
      </p:sp>
      <p:sp>
        <p:nvSpPr>
          <p:cNvPr id="7" name="Text 5"/>
          <p:cNvSpPr/>
          <p:nvPr/>
        </p:nvSpPr>
        <p:spPr>
          <a:xfrm>
            <a:off x="793790" y="442115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Foster open-source collaborations to accelerate innovation and feature development.</a:t>
            </a:r>
            <a:endParaRPr lang="en-US" sz="1750" dirty="0"/>
          </a:p>
        </p:txBody>
      </p:sp>
      <p:sp>
        <p:nvSpPr>
          <p:cNvPr id="8" name="Text 6"/>
          <p:cNvSpPr/>
          <p:nvPr/>
        </p:nvSpPr>
        <p:spPr>
          <a:xfrm>
            <a:off x="793790" y="4863351"/>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2586B"/>
                </a:solidFill>
                <a:latin typeface="Funnel Sans" pitchFamily="34" charset="0"/>
                <a:ea typeface="Funnel Sans" pitchFamily="34" charset="-122"/>
                <a:cs typeface="Funnel Sans" pitchFamily="34" charset="-120"/>
              </a:rPr>
              <a:t>Integrate with IoT and smart home devices, enabling actions such as automated notifications, smart lighting adjustments, or connecting with digital assistants for a more seamless caregiving environment.</a:t>
            </a:r>
            <a:endParaRPr lang="en-US" sz="1750" dirty="0"/>
          </a:p>
        </p:txBody>
      </p:sp>
      <p:sp>
        <p:nvSpPr>
          <p:cNvPr id="9" name="Text 7"/>
          <p:cNvSpPr/>
          <p:nvPr/>
        </p:nvSpPr>
        <p:spPr>
          <a:xfrm>
            <a:off x="793790" y="6110526"/>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Rectangle 9">
            <a:extLst>
              <a:ext uri="{FF2B5EF4-FFF2-40B4-BE49-F238E27FC236}">
                <a16:creationId xmlns:a16="http://schemas.microsoft.com/office/drawing/2014/main" id="{66EE22F6-CC4D-B898-8CA6-CFBE8F8F9558}"/>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1" name="Group 10">
            <a:extLst>
              <a:ext uri="{FF2B5EF4-FFF2-40B4-BE49-F238E27FC236}">
                <a16:creationId xmlns:a16="http://schemas.microsoft.com/office/drawing/2014/main" id="{B98DF134-3423-5C42-D295-1AB856672707}"/>
              </a:ext>
            </a:extLst>
          </p:cNvPr>
          <p:cNvGrpSpPr/>
          <p:nvPr/>
        </p:nvGrpSpPr>
        <p:grpSpPr>
          <a:xfrm>
            <a:off x="13098849" y="7649737"/>
            <a:ext cx="1531551" cy="492749"/>
            <a:chOff x="4980356" y="2244940"/>
            <a:chExt cx="4228223" cy="1360354"/>
          </a:xfrm>
        </p:grpSpPr>
        <p:pic>
          <p:nvPicPr>
            <p:cNvPr id="12" name="Picture 11">
              <a:extLst>
                <a:ext uri="{FF2B5EF4-FFF2-40B4-BE49-F238E27FC236}">
                  <a16:creationId xmlns:a16="http://schemas.microsoft.com/office/drawing/2014/main" id="{B512588C-6089-7831-98FE-070CDEAF401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3" name="Picture 12">
              <a:extLst>
                <a:ext uri="{FF2B5EF4-FFF2-40B4-BE49-F238E27FC236}">
                  <a16:creationId xmlns:a16="http://schemas.microsoft.com/office/drawing/2014/main" id="{D7A7C6CA-4CC3-FFD8-2C69-8DE9EB5FA1C4}"/>
                </a:ext>
              </a:extLst>
            </p:cNvPr>
            <p:cNvPicPr>
              <a:picLocks noChangeAspect="1"/>
            </p:cNvPicPr>
            <p:nvPr/>
          </p:nvPicPr>
          <p:blipFill>
            <a:blip r:embed="rId5">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76989" y="151054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73B48"/>
                </a:solidFill>
                <a:latin typeface="Antigoni Med" panose="020B0703020204030204" pitchFamily="34" charset="0"/>
                <a:ea typeface="Mona Sans Semi Bold" pitchFamily="34" charset="-122"/>
                <a:cs typeface="Mona Sans Semi Bold" pitchFamily="34" charset="-120"/>
              </a:rPr>
              <a:t>TEAM DETAILS</a:t>
            </a:r>
            <a:endParaRPr lang="en-US" sz="4450" dirty="0">
              <a:latin typeface="Antigoni Med" panose="020B0703020204030204" pitchFamily="34" charset="0"/>
            </a:endParaRPr>
          </a:p>
        </p:txBody>
      </p:sp>
      <p:sp>
        <p:nvSpPr>
          <p:cNvPr id="3" name="Text 1"/>
          <p:cNvSpPr/>
          <p:nvPr/>
        </p:nvSpPr>
        <p:spPr>
          <a:xfrm>
            <a:off x="793790" y="313634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52586B"/>
                </a:solidFill>
                <a:latin typeface="Funnel Sans" pitchFamily="34" charset="0"/>
                <a:ea typeface="Funnel Sans" pitchFamily="34" charset="-122"/>
                <a:cs typeface="Funnel Sans" pitchFamily="34" charset="-120"/>
              </a:rPr>
              <a:t>TEAM NAME</a:t>
            </a:r>
            <a:r>
              <a:rPr lang="en-US" sz="1750" dirty="0">
                <a:solidFill>
                  <a:srgbClr val="52586B"/>
                </a:solidFill>
                <a:latin typeface="Funnel Sans" pitchFamily="34" charset="0"/>
                <a:ea typeface="Funnel Sans" pitchFamily="34" charset="-122"/>
                <a:cs typeface="Funnel Sans" pitchFamily="34" charset="-120"/>
              </a:rPr>
              <a:t>: ABX &amp; Co.</a:t>
            </a:r>
            <a:endParaRPr lang="en-US" sz="1750" dirty="0"/>
          </a:p>
        </p:txBody>
      </p:sp>
      <p:sp>
        <p:nvSpPr>
          <p:cNvPr id="4" name="Text 2"/>
          <p:cNvSpPr/>
          <p:nvPr/>
        </p:nvSpPr>
        <p:spPr>
          <a:xfrm>
            <a:off x="793790" y="357854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52586B"/>
                </a:solidFill>
                <a:latin typeface="Funnel Sans" pitchFamily="34" charset="0"/>
                <a:ea typeface="Funnel Sans" pitchFamily="34" charset="-122"/>
                <a:cs typeface="Funnel Sans" pitchFamily="34" charset="-120"/>
              </a:rPr>
              <a:t>LEADER NAME</a:t>
            </a:r>
            <a:r>
              <a:rPr lang="en-US" sz="1750" dirty="0">
                <a:solidFill>
                  <a:srgbClr val="52586B"/>
                </a:solidFill>
                <a:latin typeface="Funnel Sans" pitchFamily="34" charset="0"/>
                <a:ea typeface="Funnel Sans" pitchFamily="34" charset="-122"/>
                <a:cs typeface="Funnel Sans" pitchFamily="34" charset="-120"/>
              </a:rPr>
              <a:t>: Amal Babu / CSE(AI) / 3rd</a:t>
            </a:r>
            <a:endParaRPr lang="en-US" sz="1750" dirty="0"/>
          </a:p>
        </p:txBody>
      </p:sp>
      <p:sp>
        <p:nvSpPr>
          <p:cNvPr id="5" name="Text 3"/>
          <p:cNvSpPr/>
          <p:nvPr/>
        </p:nvSpPr>
        <p:spPr>
          <a:xfrm>
            <a:off x="793790" y="402074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52586B"/>
                </a:solidFill>
                <a:latin typeface="Funnel Sans" pitchFamily="34" charset="0"/>
                <a:ea typeface="Funnel Sans" pitchFamily="34" charset="-122"/>
                <a:cs typeface="Funnel Sans" pitchFamily="34" charset="-120"/>
              </a:rPr>
              <a:t>TEAM MEMBER 1</a:t>
            </a:r>
            <a:r>
              <a:rPr lang="en-US" sz="1750" dirty="0">
                <a:solidFill>
                  <a:srgbClr val="52586B"/>
                </a:solidFill>
                <a:latin typeface="Funnel Sans" pitchFamily="34" charset="0"/>
                <a:ea typeface="Funnel Sans" pitchFamily="34" charset="-122"/>
                <a:cs typeface="Funnel Sans" pitchFamily="34" charset="-120"/>
              </a:rPr>
              <a:t>: Atul Biju / CSE(AI) / 3rd</a:t>
            </a:r>
            <a:endParaRPr lang="en-US" sz="1750" dirty="0"/>
          </a:p>
        </p:txBody>
      </p:sp>
      <p:sp>
        <p:nvSpPr>
          <p:cNvPr id="6" name="Text 4"/>
          <p:cNvSpPr/>
          <p:nvPr/>
        </p:nvSpPr>
        <p:spPr>
          <a:xfrm>
            <a:off x="793790" y="446293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52586B"/>
                </a:solidFill>
                <a:latin typeface="Funnel Sans" pitchFamily="34" charset="0"/>
                <a:ea typeface="Funnel Sans" pitchFamily="34" charset="-122"/>
                <a:cs typeface="Funnel Sans" pitchFamily="34" charset="-120"/>
              </a:rPr>
              <a:t>TEAM MEMBER 2</a:t>
            </a:r>
            <a:r>
              <a:rPr lang="en-US" sz="1750" dirty="0">
                <a:solidFill>
                  <a:srgbClr val="52586B"/>
                </a:solidFill>
                <a:latin typeface="Funnel Sans" pitchFamily="34" charset="0"/>
                <a:ea typeface="Funnel Sans" pitchFamily="34" charset="-122"/>
                <a:cs typeface="Funnel Sans" pitchFamily="34" charset="-120"/>
              </a:rPr>
              <a:t>: aaa / CSE(AI) / 3rd</a:t>
            </a:r>
            <a:endParaRPr lang="en-US" sz="1750" dirty="0"/>
          </a:p>
        </p:txBody>
      </p:sp>
      <p:sp>
        <p:nvSpPr>
          <p:cNvPr id="7" name="Text 5"/>
          <p:cNvSpPr/>
          <p:nvPr/>
        </p:nvSpPr>
        <p:spPr>
          <a:xfrm>
            <a:off x="793790" y="490513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52586B"/>
                </a:solidFill>
                <a:latin typeface="Funnel Sans" pitchFamily="34" charset="0"/>
                <a:ea typeface="Funnel Sans" pitchFamily="34" charset="-122"/>
                <a:cs typeface="Funnel Sans" pitchFamily="34" charset="-120"/>
              </a:rPr>
              <a:t>INSTITUTION NAME</a:t>
            </a:r>
            <a:r>
              <a:rPr lang="en-US" sz="1750" dirty="0">
                <a:solidFill>
                  <a:srgbClr val="52586B"/>
                </a:solidFill>
                <a:latin typeface="Funnel Sans" pitchFamily="34" charset="0"/>
                <a:ea typeface="Funnel Sans" pitchFamily="34" charset="-122"/>
                <a:cs typeface="Funnel Sans" pitchFamily="34" charset="-120"/>
              </a:rPr>
              <a:t>: Adi Shankara Institute of Engineering and Technology</a:t>
            </a:r>
            <a:endParaRPr lang="en-US" sz="1750" dirty="0"/>
          </a:p>
        </p:txBody>
      </p:sp>
      <p:sp>
        <p:nvSpPr>
          <p:cNvPr id="8" name="Text 6"/>
          <p:cNvSpPr/>
          <p:nvPr/>
        </p:nvSpPr>
        <p:spPr>
          <a:xfrm>
            <a:off x="793790" y="534733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u="sng" dirty="0">
                <a:solidFill>
                  <a:srgbClr val="373B48"/>
                </a:solidFill>
                <a:latin typeface="Funnel Sans" pitchFamily="34" charset="0"/>
                <a:ea typeface="Funnel Sans" pitchFamily="34" charset="-122"/>
                <a:cs typeface="Funnel Sans" pitchFamily="34" charset="-120"/>
                <a:hlinkClick r:id="rId3">
                  <a:extLst>
                    <a:ext uri="{A12FA001-AC4F-418D-AE19-62706E023703}">
                      <ahyp:hlinkClr xmlns:ahyp="http://schemas.microsoft.com/office/drawing/2018/hyperlinkcolor" val="tx"/>
                    </a:ext>
                  </a:extLst>
                </a:hlinkClick>
              </a:rPr>
              <a:t>https://github.com/Atul013/Cradlix</a:t>
            </a:r>
            <a:endParaRPr lang="en-US" sz="1750" dirty="0"/>
          </a:p>
        </p:txBody>
      </p:sp>
      <p:sp>
        <p:nvSpPr>
          <p:cNvPr id="9" name="Text 7"/>
          <p:cNvSpPr/>
          <p:nvPr/>
        </p:nvSpPr>
        <p:spPr>
          <a:xfrm>
            <a:off x="793790" y="5965388"/>
            <a:ext cx="13042821" cy="290274"/>
          </a:xfrm>
          <a:prstGeom prst="rect">
            <a:avLst/>
          </a:prstGeom>
          <a:noFill/>
          <a:ln/>
        </p:spPr>
        <p:txBody>
          <a:bodyPr wrap="none" lIns="0" tIns="0" rIns="0" bIns="0" rtlCol="0" anchor="t"/>
          <a:lstStyle/>
          <a:p>
            <a:pPr marL="0" indent="0" algn="l">
              <a:lnSpc>
                <a:spcPts val="2250"/>
              </a:lnSpc>
              <a:buNone/>
            </a:pPr>
            <a:endParaRPr lang="en-US" sz="1400" dirty="0"/>
          </a:p>
        </p:txBody>
      </p:sp>
      <p:sp>
        <p:nvSpPr>
          <p:cNvPr id="10" name="Rectangle 9">
            <a:extLst>
              <a:ext uri="{FF2B5EF4-FFF2-40B4-BE49-F238E27FC236}">
                <a16:creationId xmlns:a16="http://schemas.microsoft.com/office/drawing/2014/main" id="{3651CDEA-92AD-E970-C73B-1213833F7B50}"/>
              </a:ext>
            </a:extLst>
          </p:cNvPr>
          <p:cNvSpPr/>
          <p:nvPr/>
        </p:nvSpPr>
        <p:spPr>
          <a:xfrm>
            <a:off x="12556273" y="7527073"/>
            <a:ext cx="2074127" cy="702527"/>
          </a:xfrm>
          <a:prstGeom prst="rect">
            <a:avLst/>
          </a:prstGeom>
          <a:solidFill>
            <a:srgbClr val="FE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FC2F4F89-CF4B-59B4-1C5F-17085B0332EB}"/>
              </a:ext>
            </a:extLst>
          </p:cNvPr>
          <p:cNvPicPr>
            <a:picLocks noChangeAspect="1"/>
          </p:cNvPicPr>
          <p:nvPr/>
        </p:nvPicPr>
        <p:blipFill>
          <a:blip r:embed="rId4"/>
          <a:stretch>
            <a:fillRect/>
          </a:stretch>
        </p:blipFill>
        <p:spPr>
          <a:xfrm flipH="1">
            <a:off x="8051180" y="3582478"/>
            <a:ext cx="6579220" cy="4217449"/>
          </a:xfrm>
          <a:prstGeom prst="rect">
            <a:avLst/>
          </a:prstGeom>
          <a:scene3d>
            <a:camera prst="orthographicFront"/>
            <a:lightRig rig="threePt" dir="t"/>
          </a:scene3d>
          <a:sp3d>
            <a:bevelT/>
          </a:sp3d>
        </p:spPr>
      </p:pic>
      <p:grpSp>
        <p:nvGrpSpPr>
          <p:cNvPr id="15" name="Group 14">
            <a:extLst>
              <a:ext uri="{FF2B5EF4-FFF2-40B4-BE49-F238E27FC236}">
                <a16:creationId xmlns:a16="http://schemas.microsoft.com/office/drawing/2014/main" id="{3DF4BB4C-DDA3-3978-1AA7-992616A28A62}"/>
              </a:ext>
            </a:extLst>
          </p:cNvPr>
          <p:cNvGrpSpPr/>
          <p:nvPr/>
        </p:nvGrpSpPr>
        <p:grpSpPr>
          <a:xfrm>
            <a:off x="13098849" y="7649737"/>
            <a:ext cx="1531551" cy="492749"/>
            <a:chOff x="4980356" y="2244940"/>
            <a:chExt cx="4228223" cy="1360354"/>
          </a:xfrm>
        </p:grpSpPr>
        <p:pic>
          <p:nvPicPr>
            <p:cNvPr id="16" name="Picture 15">
              <a:extLst>
                <a:ext uri="{FF2B5EF4-FFF2-40B4-BE49-F238E27FC236}">
                  <a16:creationId xmlns:a16="http://schemas.microsoft.com/office/drawing/2014/main" id="{B6C60522-6B4A-7CCD-9FDF-E9536A51AAA3}"/>
                </a:ext>
              </a:extLst>
            </p:cNvPr>
            <p:cNvPicPr>
              <a:picLocks noChangeAspect="1"/>
            </p:cNvPicPr>
            <p:nvPr/>
          </p:nvPicPr>
          <p:blipFill>
            <a:blip r:embed="rId5" cstate="print">
              <a:extLst>
                <a:ext uri="{BEBA8EAE-BF5A-486C-A8C5-ECC9F3942E4B}">
                  <a14:imgProps xmlns:a14="http://schemas.microsoft.com/office/drawing/2010/main">
                    <a14:imgLayer r:embed="rId6">
                      <a14:imgEffect>
                        <a14:colorTemperature colorTemp="8800"/>
                      </a14:imgEffect>
                    </a14:imgLayer>
                  </a14:imgProps>
                </a:ext>
                <a:ext uri="{28A0092B-C50C-407E-A947-70E740481C1C}">
                  <a14:useLocalDpi xmlns:a14="http://schemas.microsoft.com/office/drawing/2010/main" val="0"/>
                </a:ext>
              </a:extLst>
            </a:blip>
            <a:srcRect t="34094" b="31764"/>
            <a:stretch>
              <a:fillRect/>
            </a:stretch>
          </p:blipFill>
          <p:spPr>
            <a:xfrm>
              <a:off x="4980356" y="2244940"/>
              <a:ext cx="4228223" cy="1360354"/>
            </a:xfrm>
            <a:prstGeom prst="rect">
              <a:avLst/>
            </a:prstGeom>
          </p:spPr>
        </p:pic>
        <p:pic>
          <p:nvPicPr>
            <p:cNvPr id="17" name="Picture 16">
              <a:extLst>
                <a:ext uri="{FF2B5EF4-FFF2-40B4-BE49-F238E27FC236}">
                  <a16:creationId xmlns:a16="http://schemas.microsoft.com/office/drawing/2014/main" id="{18D7CB57-A881-20AA-6D73-6FB973DA8927}"/>
                </a:ext>
              </a:extLst>
            </p:cNvPr>
            <p:cNvPicPr>
              <a:picLocks noChangeAspect="1"/>
            </p:cNvPicPr>
            <p:nvPr/>
          </p:nvPicPr>
          <p:blipFill>
            <a:blip r:embed="rId7">
              <a:duotone>
                <a:schemeClr val="bg2">
                  <a:shade val="45000"/>
                  <a:satMod val="135000"/>
                </a:schemeClr>
                <a:prstClr val="white"/>
              </a:duotone>
            </a:blip>
            <a:srcRect t="72039" b="-3582"/>
            <a:stretch>
              <a:fillRect/>
            </a:stretch>
          </p:blipFill>
          <p:spPr>
            <a:xfrm>
              <a:off x="5196076" y="3227371"/>
              <a:ext cx="3729877" cy="377923"/>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821</Words>
  <Application>Microsoft Office PowerPoint</Application>
  <PresentationFormat>Custom</PresentationFormat>
  <Paragraphs>87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Funnel Sans</vt:lpstr>
      <vt:lpstr>Arial</vt:lpstr>
      <vt:lpstr>Antigoni Med</vt:lpstr>
      <vt:lpstr>Mona Sans Semi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Atul Biju</cp:lastModifiedBy>
  <cp:revision>2</cp:revision>
  <dcterms:created xsi:type="dcterms:W3CDTF">2025-07-20T11:25:41Z</dcterms:created>
  <dcterms:modified xsi:type="dcterms:W3CDTF">2025-07-20T12:20:42Z</dcterms:modified>
</cp:coreProperties>
</file>